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17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7575" y="6562723"/>
            <a:ext cx="1066800" cy="247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58525" y="6419850"/>
            <a:ext cx="1076325" cy="4381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174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77575" y="6562723"/>
            <a:ext cx="1066800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217" y="502285"/>
            <a:ext cx="9102725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92000" y="68580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>
                <a:alpha val="3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77575" y="6562723"/>
              <a:ext cx="1066800" cy="24765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7217" y="1650999"/>
            <a:ext cx="6301105" cy="1254125"/>
          </a:xfrm>
          <a:prstGeom prst="rect"/>
        </p:spPr>
        <p:txBody>
          <a:bodyPr wrap="square" lIns="0" tIns="132080" rIns="0" bIns="0" rtlCol="0" vert="horz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1040"/>
              </a:spcBef>
            </a:pPr>
            <a:r>
              <a:rPr dirty="0" sz="4400" spc="-265"/>
              <a:t>Maze</a:t>
            </a:r>
            <a:r>
              <a:rPr dirty="0" sz="4400" spc="-605"/>
              <a:t> </a:t>
            </a:r>
            <a:r>
              <a:rPr dirty="0" sz="4400" spc="-345"/>
              <a:t>Solver</a:t>
            </a:r>
            <a:r>
              <a:rPr dirty="0" sz="4400" spc="-685"/>
              <a:t> </a:t>
            </a:r>
            <a:r>
              <a:rPr dirty="0" sz="4400" spc="-335"/>
              <a:t>Arena</a:t>
            </a:r>
            <a:r>
              <a:rPr dirty="0" sz="4400" spc="-595"/>
              <a:t> </a:t>
            </a:r>
            <a:r>
              <a:rPr dirty="0" sz="4400" spc="-420"/>
              <a:t>(BFS</a:t>
            </a:r>
            <a:r>
              <a:rPr dirty="0" sz="4400" spc="-635"/>
              <a:t> </a:t>
            </a:r>
            <a:r>
              <a:rPr dirty="0" sz="4400" spc="-340"/>
              <a:t>vs </a:t>
            </a:r>
            <a:r>
              <a:rPr dirty="0" sz="4400" spc="-400"/>
              <a:t>DFS</a:t>
            </a:r>
            <a:r>
              <a:rPr dirty="0" sz="4400" spc="-715"/>
              <a:t> </a:t>
            </a:r>
            <a:r>
              <a:rPr dirty="0" sz="4400" spc="-280"/>
              <a:t>vs</a:t>
            </a:r>
            <a:r>
              <a:rPr dirty="0" sz="4400" spc="-615"/>
              <a:t> </a:t>
            </a:r>
            <a:r>
              <a:rPr dirty="0" sz="4400" spc="-350"/>
              <a:t>Backtracking)</a:t>
            </a:r>
            <a:endParaRPr sz="4400"/>
          </a:p>
        </p:txBody>
      </p:sp>
      <p:grpSp>
        <p:nvGrpSpPr>
          <p:cNvPr id="7" name="object 7"/>
          <p:cNvGrpSpPr/>
          <p:nvPr/>
        </p:nvGrpSpPr>
        <p:grpSpPr>
          <a:xfrm>
            <a:off x="609600" y="3219450"/>
            <a:ext cx="11588750" cy="3644900"/>
            <a:chOff x="609600" y="3219450"/>
            <a:chExt cx="11588750" cy="3644900"/>
          </a:xfrm>
        </p:grpSpPr>
        <p:sp>
          <p:nvSpPr>
            <p:cNvPr id="8" name="object 8"/>
            <p:cNvSpPr/>
            <p:nvPr/>
          </p:nvSpPr>
          <p:spPr>
            <a:xfrm>
              <a:off x="609600" y="3219450"/>
              <a:ext cx="238125" cy="28575"/>
            </a:xfrm>
            <a:custGeom>
              <a:avLst/>
              <a:gdLst/>
              <a:ahLst/>
              <a:cxnLst/>
              <a:rect l="l" t="t" r="r" b="b"/>
              <a:pathLst>
                <a:path w="238125" h="28575">
                  <a:moveTo>
                    <a:pt x="231724" y="0"/>
                  </a:moveTo>
                  <a:lnTo>
                    <a:pt x="6400" y="0"/>
                  </a:lnTo>
                  <a:lnTo>
                    <a:pt x="0" y="6350"/>
                  </a:lnTo>
                  <a:lnTo>
                    <a:pt x="0" y="14350"/>
                  </a:lnTo>
                  <a:lnTo>
                    <a:pt x="0" y="22225"/>
                  </a:lnTo>
                  <a:lnTo>
                    <a:pt x="6400" y="28575"/>
                  </a:lnTo>
                  <a:lnTo>
                    <a:pt x="231724" y="28575"/>
                  </a:lnTo>
                  <a:lnTo>
                    <a:pt x="238125" y="22225"/>
                  </a:lnTo>
                  <a:lnTo>
                    <a:pt x="238125" y="6350"/>
                  </a:lnTo>
                  <a:lnTo>
                    <a:pt x="231724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96651" y="6329362"/>
              <a:ext cx="1395730" cy="528955"/>
            </a:xfrm>
            <a:custGeom>
              <a:avLst/>
              <a:gdLst/>
              <a:ahLst/>
              <a:cxnLst/>
              <a:rect l="l" t="t" r="r" b="b"/>
              <a:pathLst>
                <a:path w="1395729" h="528954">
                  <a:moveTo>
                    <a:pt x="1395349" y="0"/>
                  </a:moveTo>
                  <a:lnTo>
                    <a:pt x="0" y="0"/>
                  </a:lnTo>
                  <a:lnTo>
                    <a:pt x="0" y="528637"/>
                  </a:lnTo>
                  <a:lnTo>
                    <a:pt x="1395349" y="528637"/>
                  </a:lnTo>
                  <a:lnTo>
                    <a:pt x="139534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96651" y="6329362"/>
              <a:ext cx="1395730" cy="528955"/>
            </a:xfrm>
            <a:custGeom>
              <a:avLst/>
              <a:gdLst/>
              <a:ahLst/>
              <a:cxnLst/>
              <a:rect l="l" t="t" r="r" b="b"/>
              <a:pathLst>
                <a:path w="1395729" h="528954">
                  <a:moveTo>
                    <a:pt x="1395349" y="0"/>
                  </a:moveTo>
                  <a:lnTo>
                    <a:pt x="0" y="0"/>
                  </a:lnTo>
                  <a:lnTo>
                    <a:pt x="0" y="528637"/>
                  </a:lnTo>
                </a:path>
              </a:pathLst>
            </a:custGeom>
            <a:ln w="127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77525" y="6172199"/>
              <a:ext cx="1504950" cy="6857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97217" y="4289234"/>
            <a:ext cx="4756150" cy="115125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37820" indent="-325120">
              <a:lnSpc>
                <a:spcPct val="100000"/>
              </a:lnSpc>
              <a:spcBef>
                <a:spcPts val="484"/>
              </a:spcBef>
              <a:buChar char="•"/>
              <a:tabLst>
                <a:tab pos="337820" algn="l"/>
              </a:tabLst>
            </a:pP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SHIVANSH</a:t>
            </a:r>
            <a:r>
              <a:rPr dirty="0" sz="1550" spc="1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MISHRA</a:t>
            </a:r>
            <a:r>
              <a:rPr dirty="0" sz="15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5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550" spc="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Microsoft Sans Serif"/>
                <a:cs typeface="Microsoft Sans Serif"/>
              </a:rPr>
              <a:t>25MVCSMR0358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90"/>
              </a:spcBef>
              <a:buChar char="•"/>
              <a:tabLst>
                <a:tab pos="337820" algn="l"/>
              </a:tabLst>
            </a:pP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KUNAL</a:t>
            </a:r>
            <a:r>
              <a:rPr dirty="0" sz="15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MOGRA</a:t>
            </a:r>
            <a:r>
              <a:rPr dirty="0" sz="1550" spc="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5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550" spc="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Microsoft Sans Serif"/>
                <a:cs typeface="Microsoft Sans Serif"/>
              </a:rPr>
              <a:t>25MVCSMR0320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20"/>
              </a:spcBef>
              <a:buChar char="•"/>
              <a:tabLst>
                <a:tab pos="337820" algn="l"/>
              </a:tabLst>
            </a:pP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ROHAN</a:t>
            </a:r>
            <a:r>
              <a:rPr dirty="0" sz="1550" spc="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KUMAR</a:t>
            </a:r>
            <a:r>
              <a:rPr dirty="0" sz="1550" spc="9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SAMAL</a:t>
            </a:r>
            <a:r>
              <a:rPr dirty="0" sz="15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5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550" spc="8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FFFFFF"/>
                </a:solidFill>
                <a:latin typeface="Microsoft Sans Serif"/>
                <a:cs typeface="Microsoft Sans Serif"/>
              </a:rPr>
              <a:t>25MVCSMR0349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20"/>
              </a:spcBef>
              <a:buChar char="•"/>
              <a:tabLst>
                <a:tab pos="337820" algn="l"/>
              </a:tabLst>
            </a:pP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EMULLA</a:t>
            </a:r>
            <a:r>
              <a:rPr dirty="0" sz="1550" spc="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HARSHITH</a:t>
            </a:r>
            <a:r>
              <a:rPr dirty="0" sz="1550" spc="114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FFFFFF"/>
                </a:solidFill>
                <a:latin typeface="Microsoft Sans Serif"/>
                <a:cs typeface="Microsoft Sans Serif"/>
              </a:rPr>
              <a:t>GOUD</a:t>
            </a:r>
            <a:r>
              <a:rPr dirty="0" sz="155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5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dirty="0" sz="1550" spc="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FFFFFF"/>
                </a:solidFill>
                <a:latin typeface="Microsoft Sans Serif"/>
                <a:cs typeface="Microsoft Sans Serif"/>
              </a:rPr>
              <a:t>25MVCSMR0303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305"/>
              <a:t>One</a:t>
            </a:r>
            <a:r>
              <a:rPr dirty="0" spc="-490"/>
              <a:t> </a:t>
            </a:r>
            <a:r>
              <a:rPr dirty="0" spc="-265"/>
              <a:t>maze,</a:t>
            </a:r>
            <a:r>
              <a:rPr dirty="0" spc="-375"/>
              <a:t> </a:t>
            </a:r>
            <a:r>
              <a:rPr dirty="0" spc="-290"/>
              <a:t>three</a:t>
            </a:r>
            <a:r>
              <a:rPr dirty="0" spc="-409"/>
              <a:t> </a:t>
            </a:r>
            <a:r>
              <a:rPr dirty="0" spc="-254"/>
              <a:t>algorithms,</a:t>
            </a:r>
            <a:r>
              <a:rPr dirty="0" spc="-455"/>
              <a:t> </a:t>
            </a:r>
            <a:r>
              <a:rPr dirty="0" spc="-240"/>
              <a:t>visible</a:t>
            </a:r>
            <a:r>
              <a:rPr dirty="0" spc="-409"/>
              <a:t> </a:t>
            </a:r>
            <a:r>
              <a:rPr dirty="0" spc="-210"/>
              <a:t>differences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7217" y="1216977"/>
            <a:ext cx="70002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B4C2EB"/>
                </a:solidFill>
                <a:latin typeface="Microsoft Sans Serif"/>
                <a:cs typeface="Microsoft Sans Serif"/>
              </a:rPr>
              <a:t>The</a:t>
            </a:r>
            <a:r>
              <a:rPr dirty="0" sz="2000" spc="6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B4C2EB"/>
                </a:solidFill>
                <a:latin typeface="Microsoft Sans Serif"/>
                <a:cs typeface="Microsoft Sans Serif"/>
              </a:rPr>
              <a:t>same</a:t>
            </a:r>
            <a:r>
              <a:rPr dirty="0" sz="2000" spc="-2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B4C2EB"/>
                </a:solidFill>
                <a:latin typeface="Microsoft Sans Serif"/>
                <a:cs typeface="Microsoft Sans Serif"/>
              </a:rPr>
              <a:t>maze</a:t>
            </a:r>
            <a:r>
              <a:rPr dirty="0" sz="2000" spc="-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B4C2EB"/>
                </a:solidFill>
                <a:latin typeface="Microsoft Sans Serif"/>
                <a:cs typeface="Microsoft Sans Serif"/>
              </a:rPr>
              <a:t>makes</a:t>
            </a:r>
            <a:r>
              <a:rPr dirty="0" sz="2000" spc="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50">
                <a:solidFill>
                  <a:srgbClr val="B4C2EB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2000" spc="2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50">
                <a:solidFill>
                  <a:srgbClr val="B4C2EB"/>
                </a:solidFill>
                <a:latin typeface="Microsoft Sans Serif"/>
                <a:cs typeface="Microsoft Sans Serif"/>
              </a:rPr>
              <a:t>behavior</a:t>
            </a:r>
            <a:r>
              <a:rPr dirty="0" sz="2000" spc="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65">
                <a:solidFill>
                  <a:srgbClr val="B4C2EB"/>
                </a:solidFill>
                <a:latin typeface="Microsoft Sans Serif"/>
                <a:cs typeface="Microsoft Sans Serif"/>
              </a:rPr>
              <a:t>easy</a:t>
            </a:r>
            <a:r>
              <a:rPr dirty="0" sz="2000" spc="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140">
                <a:solidFill>
                  <a:srgbClr val="B4C2EB"/>
                </a:solidFill>
                <a:latin typeface="Microsoft Sans Serif"/>
                <a:cs typeface="Microsoft Sans Serif"/>
              </a:rPr>
              <a:t>to</a:t>
            </a:r>
            <a:r>
              <a:rPr dirty="0" sz="2000" spc="2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B4C2EB"/>
                </a:solidFill>
                <a:latin typeface="Microsoft Sans Serif"/>
                <a:cs typeface="Microsoft Sans Serif"/>
              </a:rPr>
              <a:t>observe.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9600" y="2971800"/>
            <a:ext cx="3457575" cy="1628775"/>
            <a:chOff x="609600" y="2971800"/>
            <a:chExt cx="3457575" cy="1628775"/>
          </a:xfrm>
        </p:grpSpPr>
        <p:sp>
          <p:nvSpPr>
            <p:cNvPr id="8" name="object 8"/>
            <p:cNvSpPr/>
            <p:nvPr/>
          </p:nvSpPr>
          <p:spPr>
            <a:xfrm>
              <a:off x="609600" y="2971800"/>
              <a:ext cx="3457575" cy="1628775"/>
            </a:xfrm>
            <a:custGeom>
              <a:avLst/>
              <a:gdLst/>
              <a:ahLst/>
              <a:cxnLst/>
              <a:rect l="l" t="t" r="r" b="b"/>
              <a:pathLst>
                <a:path w="3457575" h="1628775">
                  <a:moveTo>
                    <a:pt x="3335528" y="0"/>
                  </a:moveTo>
                  <a:lnTo>
                    <a:pt x="122008" y="0"/>
                  </a:lnTo>
                  <a:lnTo>
                    <a:pt x="74516" y="9586"/>
                  </a:lnTo>
                  <a:lnTo>
                    <a:pt x="35734" y="35734"/>
                  </a:lnTo>
                  <a:lnTo>
                    <a:pt x="9587" y="74527"/>
                  </a:lnTo>
                  <a:lnTo>
                    <a:pt x="0" y="122047"/>
                  </a:lnTo>
                  <a:lnTo>
                    <a:pt x="0" y="1506727"/>
                  </a:lnTo>
                  <a:lnTo>
                    <a:pt x="9587" y="1554247"/>
                  </a:lnTo>
                  <a:lnTo>
                    <a:pt x="35734" y="1593040"/>
                  </a:lnTo>
                  <a:lnTo>
                    <a:pt x="74516" y="1619188"/>
                  </a:lnTo>
                  <a:lnTo>
                    <a:pt x="122008" y="1628775"/>
                  </a:lnTo>
                  <a:lnTo>
                    <a:pt x="3335528" y="1628775"/>
                  </a:lnTo>
                  <a:lnTo>
                    <a:pt x="3383047" y="1619188"/>
                  </a:lnTo>
                  <a:lnTo>
                    <a:pt x="3421840" y="1593040"/>
                  </a:lnTo>
                  <a:lnTo>
                    <a:pt x="3447988" y="1554247"/>
                  </a:lnTo>
                  <a:lnTo>
                    <a:pt x="3457575" y="1506727"/>
                  </a:lnTo>
                  <a:lnTo>
                    <a:pt x="3457575" y="122047"/>
                  </a:lnTo>
                  <a:lnTo>
                    <a:pt x="3447988" y="74527"/>
                  </a:lnTo>
                  <a:lnTo>
                    <a:pt x="3421840" y="35734"/>
                  </a:lnTo>
                  <a:lnTo>
                    <a:pt x="3383047" y="9586"/>
                  </a:lnTo>
                  <a:lnTo>
                    <a:pt x="3335528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200400"/>
              <a:ext cx="504825" cy="5048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26135" y="3763454"/>
            <a:ext cx="2721610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Tool</a:t>
            </a:r>
            <a:r>
              <a:rPr dirty="0" sz="1550" spc="9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solves</a:t>
            </a:r>
            <a:r>
              <a:rPr dirty="0" sz="1550" spc="1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one</a:t>
            </a:r>
            <a:r>
              <a:rPr dirty="0" sz="1550" spc="1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maze</a:t>
            </a:r>
            <a:r>
              <a:rPr dirty="0" sz="1550" spc="1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using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BFS,</a:t>
            </a:r>
            <a:r>
              <a:rPr dirty="0" sz="1550" spc="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DFS,</a:t>
            </a:r>
            <a:r>
              <a:rPr dirty="0" sz="1550" spc="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Backtracking.</a:t>
            </a:r>
            <a:endParaRPr sz="15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71975" y="2971800"/>
            <a:ext cx="3448050" cy="1628775"/>
            <a:chOff x="4371975" y="2971800"/>
            <a:chExt cx="3448050" cy="1628775"/>
          </a:xfrm>
        </p:grpSpPr>
        <p:sp>
          <p:nvSpPr>
            <p:cNvPr id="12" name="object 12"/>
            <p:cNvSpPr/>
            <p:nvPr/>
          </p:nvSpPr>
          <p:spPr>
            <a:xfrm>
              <a:off x="4371975" y="2971800"/>
              <a:ext cx="3448050" cy="1628775"/>
            </a:xfrm>
            <a:custGeom>
              <a:avLst/>
              <a:gdLst/>
              <a:ahLst/>
              <a:cxnLst/>
              <a:rect l="l" t="t" r="r" b="b"/>
              <a:pathLst>
                <a:path w="3448050" h="1628775">
                  <a:moveTo>
                    <a:pt x="3326003" y="0"/>
                  </a:moveTo>
                  <a:lnTo>
                    <a:pt x="122047" y="0"/>
                  </a:lnTo>
                  <a:lnTo>
                    <a:pt x="74527" y="9586"/>
                  </a:lnTo>
                  <a:lnTo>
                    <a:pt x="35734" y="35734"/>
                  </a:lnTo>
                  <a:lnTo>
                    <a:pt x="9586" y="74527"/>
                  </a:lnTo>
                  <a:lnTo>
                    <a:pt x="0" y="122047"/>
                  </a:lnTo>
                  <a:lnTo>
                    <a:pt x="0" y="1506727"/>
                  </a:lnTo>
                  <a:lnTo>
                    <a:pt x="9586" y="1554247"/>
                  </a:lnTo>
                  <a:lnTo>
                    <a:pt x="35734" y="1593040"/>
                  </a:lnTo>
                  <a:lnTo>
                    <a:pt x="74527" y="1619188"/>
                  </a:lnTo>
                  <a:lnTo>
                    <a:pt x="122047" y="1628775"/>
                  </a:lnTo>
                  <a:lnTo>
                    <a:pt x="3326003" y="1628775"/>
                  </a:lnTo>
                  <a:lnTo>
                    <a:pt x="3373522" y="1619188"/>
                  </a:lnTo>
                  <a:lnTo>
                    <a:pt x="3412315" y="1593040"/>
                  </a:lnTo>
                  <a:lnTo>
                    <a:pt x="3438463" y="1554247"/>
                  </a:lnTo>
                  <a:lnTo>
                    <a:pt x="3448050" y="1506727"/>
                  </a:lnTo>
                  <a:lnTo>
                    <a:pt x="3448050" y="122047"/>
                  </a:lnTo>
                  <a:lnTo>
                    <a:pt x="3438463" y="74527"/>
                  </a:lnTo>
                  <a:lnTo>
                    <a:pt x="3412315" y="35734"/>
                  </a:lnTo>
                  <a:lnTo>
                    <a:pt x="3373522" y="9586"/>
                  </a:lnTo>
                  <a:lnTo>
                    <a:pt x="3326003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0575" y="3200400"/>
              <a:ext cx="504825" cy="50482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588128" y="3763454"/>
            <a:ext cx="2731770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Pathfinding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supports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games,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robots,</a:t>
            </a:r>
            <a:r>
              <a:rPr dirty="0" sz="1550" spc="-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-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GPS</a:t>
            </a:r>
            <a:r>
              <a:rPr dirty="0" sz="1550" spc="3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navigation.</a:t>
            </a:r>
            <a:endParaRPr sz="15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24825" y="2971800"/>
            <a:ext cx="3457575" cy="1628775"/>
            <a:chOff x="8124825" y="2971800"/>
            <a:chExt cx="3457575" cy="1628775"/>
          </a:xfrm>
        </p:grpSpPr>
        <p:sp>
          <p:nvSpPr>
            <p:cNvPr id="16" name="object 16"/>
            <p:cNvSpPr/>
            <p:nvPr/>
          </p:nvSpPr>
          <p:spPr>
            <a:xfrm>
              <a:off x="8124825" y="2971800"/>
              <a:ext cx="3457575" cy="1628775"/>
            </a:xfrm>
            <a:custGeom>
              <a:avLst/>
              <a:gdLst/>
              <a:ahLst/>
              <a:cxnLst/>
              <a:rect l="l" t="t" r="r" b="b"/>
              <a:pathLst>
                <a:path w="3457575" h="1628775">
                  <a:moveTo>
                    <a:pt x="3335528" y="0"/>
                  </a:moveTo>
                  <a:lnTo>
                    <a:pt x="122047" y="0"/>
                  </a:lnTo>
                  <a:lnTo>
                    <a:pt x="74527" y="9586"/>
                  </a:lnTo>
                  <a:lnTo>
                    <a:pt x="35734" y="35734"/>
                  </a:lnTo>
                  <a:lnTo>
                    <a:pt x="9586" y="74527"/>
                  </a:lnTo>
                  <a:lnTo>
                    <a:pt x="0" y="122047"/>
                  </a:lnTo>
                  <a:lnTo>
                    <a:pt x="0" y="1506727"/>
                  </a:lnTo>
                  <a:lnTo>
                    <a:pt x="9586" y="1554247"/>
                  </a:lnTo>
                  <a:lnTo>
                    <a:pt x="35734" y="1593040"/>
                  </a:lnTo>
                  <a:lnTo>
                    <a:pt x="74527" y="1619188"/>
                  </a:lnTo>
                  <a:lnTo>
                    <a:pt x="122047" y="1628775"/>
                  </a:lnTo>
                  <a:lnTo>
                    <a:pt x="3335528" y="1628775"/>
                  </a:lnTo>
                  <a:lnTo>
                    <a:pt x="3383047" y="1619188"/>
                  </a:lnTo>
                  <a:lnTo>
                    <a:pt x="3421840" y="1593040"/>
                  </a:lnTo>
                  <a:lnTo>
                    <a:pt x="3447988" y="1554247"/>
                  </a:lnTo>
                  <a:lnTo>
                    <a:pt x="3457575" y="1506727"/>
                  </a:lnTo>
                  <a:lnTo>
                    <a:pt x="3457575" y="122047"/>
                  </a:lnTo>
                  <a:lnTo>
                    <a:pt x="3447988" y="74527"/>
                  </a:lnTo>
                  <a:lnTo>
                    <a:pt x="3421840" y="35734"/>
                  </a:lnTo>
                  <a:lnTo>
                    <a:pt x="3383047" y="9586"/>
                  </a:lnTo>
                  <a:lnTo>
                    <a:pt x="3335528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3425" y="3200400"/>
              <a:ext cx="514350" cy="5048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350250" y="3763454"/>
            <a:ext cx="2758440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One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app</a:t>
            </a:r>
            <a:r>
              <a:rPr dirty="0" sz="1550" spc="3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shows</a:t>
            </a:r>
            <a:r>
              <a:rPr dirty="0" sz="1550" spc="114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side-</a:t>
            </a:r>
            <a:r>
              <a:rPr dirty="0" sz="1550" spc="160">
                <a:solidFill>
                  <a:srgbClr val="E9EDFF"/>
                </a:solidFill>
                <a:latin typeface="Microsoft Sans Serif"/>
                <a:cs typeface="Microsoft Sans Serif"/>
              </a:rPr>
              <a:t>by-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side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155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results.</a:t>
            </a:r>
            <a:endParaRPr sz="1550">
              <a:latin typeface="Microsoft Sans Serif"/>
              <a:cs typeface="Microsoft Sans Serif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609600" y="4905375"/>
            <a:ext cx="11534775" cy="1905000"/>
            <a:chOff x="609600" y="4905375"/>
            <a:chExt cx="11534775" cy="1905000"/>
          </a:xfrm>
        </p:grpSpPr>
        <p:sp>
          <p:nvSpPr>
            <p:cNvPr id="3" name="object 3"/>
            <p:cNvSpPr/>
            <p:nvPr/>
          </p:nvSpPr>
          <p:spPr>
            <a:xfrm>
              <a:off x="609600" y="4905375"/>
              <a:ext cx="10972800" cy="1343025"/>
            </a:xfrm>
            <a:custGeom>
              <a:avLst/>
              <a:gdLst/>
              <a:ahLst/>
              <a:cxnLst/>
              <a:rect l="l" t="t" r="r" b="b"/>
              <a:pathLst>
                <a:path w="10972800" h="1343025">
                  <a:moveTo>
                    <a:pt x="10851261" y="0"/>
                  </a:moveTo>
                  <a:lnTo>
                    <a:pt x="121551" y="0"/>
                  </a:lnTo>
                  <a:lnTo>
                    <a:pt x="74237" y="9542"/>
                  </a:lnTo>
                  <a:lnTo>
                    <a:pt x="35601" y="35575"/>
                  </a:lnTo>
                  <a:lnTo>
                    <a:pt x="9551" y="74205"/>
                  </a:lnTo>
                  <a:lnTo>
                    <a:pt x="0" y="121538"/>
                  </a:lnTo>
                  <a:lnTo>
                    <a:pt x="0" y="1221473"/>
                  </a:lnTo>
                  <a:lnTo>
                    <a:pt x="9551" y="1268787"/>
                  </a:lnTo>
                  <a:lnTo>
                    <a:pt x="35601" y="1307423"/>
                  </a:lnTo>
                  <a:lnTo>
                    <a:pt x="74237" y="1333473"/>
                  </a:lnTo>
                  <a:lnTo>
                    <a:pt x="121551" y="1343025"/>
                  </a:lnTo>
                  <a:lnTo>
                    <a:pt x="10851261" y="1343025"/>
                  </a:lnTo>
                  <a:lnTo>
                    <a:pt x="10898540" y="1333473"/>
                  </a:lnTo>
                  <a:lnTo>
                    <a:pt x="10937176" y="1307423"/>
                  </a:lnTo>
                  <a:lnTo>
                    <a:pt x="10963239" y="1268787"/>
                  </a:lnTo>
                  <a:lnTo>
                    <a:pt x="10972800" y="1221473"/>
                  </a:lnTo>
                  <a:lnTo>
                    <a:pt x="10972800" y="121538"/>
                  </a:lnTo>
                  <a:lnTo>
                    <a:pt x="10963239" y="74205"/>
                  </a:lnTo>
                  <a:lnTo>
                    <a:pt x="10937176" y="35575"/>
                  </a:lnTo>
                  <a:lnTo>
                    <a:pt x="10898540" y="9542"/>
                  </a:lnTo>
                  <a:lnTo>
                    <a:pt x="10851261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5133975"/>
              <a:ext cx="504825" cy="50482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26135" y="5744209"/>
            <a:ext cx="51568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Students</a:t>
            </a:r>
            <a:r>
              <a:rPr dirty="0" sz="1550" spc="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see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35">
                <a:solidFill>
                  <a:srgbClr val="E9EDFF"/>
                </a:solidFill>
                <a:latin typeface="Microsoft Sans Serif"/>
                <a:cs typeface="Microsoft Sans Serif"/>
              </a:rPr>
              <a:t>how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choices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change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behavior.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56976" y="6257924"/>
            <a:ext cx="1335024" cy="590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50"/>
              <a:t>Compare</a:t>
            </a:r>
            <a:r>
              <a:rPr dirty="0" spc="-470"/>
              <a:t> </a:t>
            </a:r>
            <a:r>
              <a:rPr dirty="0" spc="-245"/>
              <a:t>paths,</a:t>
            </a:r>
            <a:r>
              <a:rPr dirty="0" spc="-430"/>
              <a:t> </a:t>
            </a:r>
            <a:r>
              <a:rPr dirty="0" spc="-254"/>
              <a:t>effort,</a:t>
            </a:r>
            <a:r>
              <a:rPr dirty="0" spc="-434"/>
              <a:t> </a:t>
            </a:r>
            <a:r>
              <a:rPr dirty="0" spc="-225"/>
              <a:t>and</a:t>
            </a:r>
            <a:r>
              <a:rPr dirty="0" spc="-405"/>
              <a:t> </a:t>
            </a:r>
            <a:r>
              <a:rPr dirty="0" spc="-280"/>
              <a:t>execution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600" y="1304925"/>
            <a:ext cx="3552825" cy="1524000"/>
            <a:chOff x="609600" y="1304925"/>
            <a:chExt cx="3552825" cy="1524000"/>
          </a:xfrm>
        </p:grpSpPr>
        <p:sp>
          <p:nvSpPr>
            <p:cNvPr id="4" name="object 4"/>
            <p:cNvSpPr/>
            <p:nvPr/>
          </p:nvSpPr>
          <p:spPr>
            <a:xfrm>
              <a:off x="609600" y="1304925"/>
              <a:ext cx="3552825" cy="1524000"/>
            </a:xfrm>
            <a:custGeom>
              <a:avLst/>
              <a:gdLst/>
              <a:ahLst/>
              <a:cxnLst/>
              <a:rect l="l" t="t" r="r" b="b"/>
              <a:pathLst>
                <a:path w="3552825" h="1524000">
                  <a:moveTo>
                    <a:pt x="3431032" y="0"/>
                  </a:moveTo>
                  <a:lnTo>
                    <a:pt x="121754" y="0"/>
                  </a:lnTo>
                  <a:lnTo>
                    <a:pt x="74361" y="9564"/>
                  </a:lnTo>
                  <a:lnTo>
                    <a:pt x="35660" y="35655"/>
                  </a:lnTo>
                  <a:lnTo>
                    <a:pt x="9567" y="74366"/>
                  </a:lnTo>
                  <a:lnTo>
                    <a:pt x="0" y="121792"/>
                  </a:lnTo>
                  <a:lnTo>
                    <a:pt x="0" y="1402207"/>
                  </a:lnTo>
                  <a:lnTo>
                    <a:pt x="9567" y="1449633"/>
                  </a:lnTo>
                  <a:lnTo>
                    <a:pt x="35660" y="1488344"/>
                  </a:lnTo>
                  <a:lnTo>
                    <a:pt x="74361" y="1514435"/>
                  </a:lnTo>
                  <a:lnTo>
                    <a:pt x="121754" y="1524000"/>
                  </a:lnTo>
                  <a:lnTo>
                    <a:pt x="3431032" y="1524000"/>
                  </a:lnTo>
                  <a:lnTo>
                    <a:pt x="3478458" y="1514435"/>
                  </a:lnTo>
                  <a:lnTo>
                    <a:pt x="3517169" y="1488344"/>
                  </a:lnTo>
                  <a:lnTo>
                    <a:pt x="3543260" y="1449633"/>
                  </a:lnTo>
                  <a:lnTo>
                    <a:pt x="3552825" y="1402207"/>
                  </a:lnTo>
                  <a:lnTo>
                    <a:pt x="3552825" y="121792"/>
                  </a:lnTo>
                  <a:lnTo>
                    <a:pt x="3543260" y="74366"/>
                  </a:lnTo>
                  <a:lnTo>
                    <a:pt x="3517169" y="35655"/>
                  </a:lnTo>
                  <a:lnTo>
                    <a:pt x="3478458" y="9564"/>
                  </a:lnTo>
                  <a:lnTo>
                    <a:pt x="3431032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533525"/>
              <a:ext cx="409575" cy="4095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26135" y="1994471"/>
            <a:ext cx="2637790" cy="598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Generate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or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accept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a</a:t>
            </a:r>
            <a:r>
              <a:rPr dirty="0" sz="1550" spc="-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maze, </a:t>
            </a:r>
            <a:r>
              <a:rPr dirty="0" sz="1550" spc="90">
                <a:solidFill>
                  <a:srgbClr val="E9EDFF"/>
                </a:solidFill>
                <a:latin typeface="Microsoft Sans Serif"/>
                <a:cs typeface="Microsoft Sans Serif"/>
              </a:rPr>
              <a:t>then</a:t>
            </a:r>
            <a:r>
              <a:rPr dirty="0" sz="1550" spc="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run</a:t>
            </a:r>
            <a:r>
              <a:rPr dirty="0" sz="1550" spc="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three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solvers.</a:t>
            </a:r>
            <a:endParaRPr sz="15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14825" y="1304925"/>
            <a:ext cx="3562350" cy="1524000"/>
            <a:chOff x="4314825" y="1304925"/>
            <a:chExt cx="3562350" cy="1524000"/>
          </a:xfrm>
        </p:grpSpPr>
        <p:sp>
          <p:nvSpPr>
            <p:cNvPr id="8" name="object 8"/>
            <p:cNvSpPr/>
            <p:nvPr/>
          </p:nvSpPr>
          <p:spPr>
            <a:xfrm>
              <a:off x="4314825" y="1304925"/>
              <a:ext cx="3562350" cy="1524000"/>
            </a:xfrm>
            <a:custGeom>
              <a:avLst/>
              <a:gdLst/>
              <a:ahLst/>
              <a:cxnLst/>
              <a:rect l="l" t="t" r="r" b="b"/>
              <a:pathLst>
                <a:path w="3562350" h="1524000">
                  <a:moveTo>
                    <a:pt x="3440556" y="0"/>
                  </a:moveTo>
                  <a:lnTo>
                    <a:pt x="121792" y="0"/>
                  </a:lnTo>
                  <a:lnTo>
                    <a:pt x="74366" y="9564"/>
                  </a:lnTo>
                  <a:lnTo>
                    <a:pt x="35655" y="35655"/>
                  </a:lnTo>
                  <a:lnTo>
                    <a:pt x="9564" y="74366"/>
                  </a:lnTo>
                  <a:lnTo>
                    <a:pt x="0" y="121792"/>
                  </a:lnTo>
                  <a:lnTo>
                    <a:pt x="0" y="1402207"/>
                  </a:lnTo>
                  <a:lnTo>
                    <a:pt x="9564" y="1449633"/>
                  </a:lnTo>
                  <a:lnTo>
                    <a:pt x="35655" y="1488344"/>
                  </a:lnTo>
                  <a:lnTo>
                    <a:pt x="74366" y="1514435"/>
                  </a:lnTo>
                  <a:lnTo>
                    <a:pt x="121792" y="1524000"/>
                  </a:lnTo>
                  <a:lnTo>
                    <a:pt x="3440556" y="1524000"/>
                  </a:lnTo>
                  <a:lnTo>
                    <a:pt x="3487983" y="1514435"/>
                  </a:lnTo>
                  <a:lnTo>
                    <a:pt x="3526694" y="1488344"/>
                  </a:lnTo>
                  <a:lnTo>
                    <a:pt x="3552785" y="1449633"/>
                  </a:lnTo>
                  <a:lnTo>
                    <a:pt x="3562350" y="1402207"/>
                  </a:lnTo>
                  <a:lnTo>
                    <a:pt x="3562350" y="121792"/>
                  </a:lnTo>
                  <a:lnTo>
                    <a:pt x="3552785" y="74366"/>
                  </a:lnTo>
                  <a:lnTo>
                    <a:pt x="3526694" y="35655"/>
                  </a:lnTo>
                  <a:lnTo>
                    <a:pt x="3487983" y="9564"/>
                  </a:lnTo>
                  <a:lnTo>
                    <a:pt x="3440556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425" y="1533525"/>
              <a:ext cx="409575" cy="4095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537455" y="1994471"/>
            <a:ext cx="2588895" cy="598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Compare</a:t>
            </a:r>
            <a:r>
              <a:rPr dirty="0" sz="1550" spc="1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path</a:t>
            </a:r>
            <a:r>
              <a:rPr dirty="0" sz="1550" spc="2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length,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cells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visited,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1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execution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time.</a:t>
            </a:r>
            <a:endParaRPr sz="15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29575" y="1304925"/>
            <a:ext cx="3552825" cy="1524000"/>
            <a:chOff x="8029575" y="1304925"/>
            <a:chExt cx="3552825" cy="1524000"/>
          </a:xfrm>
        </p:grpSpPr>
        <p:sp>
          <p:nvSpPr>
            <p:cNvPr id="12" name="object 12"/>
            <p:cNvSpPr/>
            <p:nvPr/>
          </p:nvSpPr>
          <p:spPr>
            <a:xfrm>
              <a:off x="8029575" y="1304925"/>
              <a:ext cx="3552825" cy="1524000"/>
            </a:xfrm>
            <a:custGeom>
              <a:avLst/>
              <a:gdLst/>
              <a:ahLst/>
              <a:cxnLst/>
              <a:rect l="l" t="t" r="r" b="b"/>
              <a:pathLst>
                <a:path w="3552825" h="1524000">
                  <a:moveTo>
                    <a:pt x="3431031" y="0"/>
                  </a:moveTo>
                  <a:lnTo>
                    <a:pt x="121793" y="0"/>
                  </a:lnTo>
                  <a:lnTo>
                    <a:pt x="74366" y="9564"/>
                  </a:lnTo>
                  <a:lnTo>
                    <a:pt x="35655" y="35655"/>
                  </a:lnTo>
                  <a:lnTo>
                    <a:pt x="9564" y="74366"/>
                  </a:lnTo>
                  <a:lnTo>
                    <a:pt x="0" y="121792"/>
                  </a:lnTo>
                  <a:lnTo>
                    <a:pt x="0" y="1402207"/>
                  </a:lnTo>
                  <a:lnTo>
                    <a:pt x="9564" y="1449633"/>
                  </a:lnTo>
                  <a:lnTo>
                    <a:pt x="35655" y="1488344"/>
                  </a:lnTo>
                  <a:lnTo>
                    <a:pt x="74366" y="1514435"/>
                  </a:lnTo>
                  <a:lnTo>
                    <a:pt x="121793" y="1524000"/>
                  </a:lnTo>
                  <a:lnTo>
                    <a:pt x="3431031" y="1524000"/>
                  </a:lnTo>
                  <a:lnTo>
                    <a:pt x="3478458" y="1514435"/>
                  </a:lnTo>
                  <a:lnTo>
                    <a:pt x="3517169" y="1488344"/>
                  </a:lnTo>
                  <a:lnTo>
                    <a:pt x="3543260" y="1449633"/>
                  </a:lnTo>
                  <a:lnTo>
                    <a:pt x="3552825" y="1402207"/>
                  </a:lnTo>
                  <a:lnTo>
                    <a:pt x="3552825" y="121792"/>
                  </a:lnTo>
                  <a:lnTo>
                    <a:pt x="3543260" y="74366"/>
                  </a:lnTo>
                  <a:lnTo>
                    <a:pt x="3517169" y="35655"/>
                  </a:lnTo>
                  <a:lnTo>
                    <a:pt x="3478458" y="9564"/>
                  </a:lnTo>
                  <a:lnTo>
                    <a:pt x="3431031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8175" y="1533525"/>
              <a:ext cx="400050" cy="40957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248395" y="1994471"/>
            <a:ext cx="3100070" cy="598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Implement,</a:t>
            </a:r>
            <a:r>
              <a:rPr dirty="0" sz="1550" spc="1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visualize,</a:t>
            </a:r>
            <a:r>
              <a:rPr dirty="0" sz="1550" spc="1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1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5">
                <a:solidFill>
                  <a:srgbClr val="E9EDFF"/>
                </a:solidFill>
                <a:latin typeface="Microsoft Sans Serif"/>
                <a:cs typeface="Microsoft Sans Serif"/>
              </a:rPr>
              <a:t>explain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all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three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35">
                <a:solidFill>
                  <a:srgbClr val="E9EDFF"/>
                </a:solidFill>
                <a:latin typeface="Microsoft Sans Serif"/>
                <a:cs typeface="Microsoft Sans Serif"/>
              </a:rPr>
              <a:t>algorithms.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7217" y="5589982"/>
            <a:ext cx="4692015" cy="64897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50" spc="-20" b="1">
                <a:solidFill>
                  <a:srgbClr val="7EA6F1"/>
                </a:solidFill>
                <a:latin typeface="Arial"/>
                <a:cs typeface="Arial"/>
              </a:rPr>
              <a:t>S</a:t>
            </a:r>
            <a:r>
              <a:rPr dirty="0" sz="1050" spc="-100" b="1">
                <a:solidFill>
                  <a:srgbClr val="7EA6F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7EA6F1"/>
                </a:solidFill>
                <a:latin typeface="Arial"/>
                <a:cs typeface="Arial"/>
              </a:rPr>
              <a:t>COP</a:t>
            </a:r>
            <a:r>
              <a:rPr dirty="0" sz="1050" spc="-85" b="1">
                <a:solidFill>
                  <a:srgbClr val="7EA6F1"/>
                </a:solidFill>
                <a:latin typeface="Arial"/>
                <a:cs typeface="Arial"/>
              </a:rPr>
              <a:t> </a:t>
            </a:r>
            <a:r>
              <a:rPr dirty="0" sz="1050" spc="-50" b="1">
                <a:solidFill>
                  <a:srgbClr val="7EA6F1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Scope:</a:t>
            </a:r>
            <a:r>
              <a:rPr dirty="0" sz="1550" spc="1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grid</a:t>
            </a:r>
            <a:r>
              <a:rPr dirty="0" sz="1550" spc="1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mazes</a:t>
            </a:r>
            <a:r>
              <a:rPr dirty="0" sz="1550" spc="1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00">
                <a:solidFill>
                  <a:srgbClr val="E9EDFF"/>
                </a:solidFill>
                <a:latin typeface="Microsoft Sans Serif"/>
                <a:cs typeface="Microsoft Sans Serif"/>
              </a:rPr>
              <a:t>with</a:t>
            </a:r>
            <a:r>
              <a:rPr dirty="0" sz="1550" spc="1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10">
                <a:solidFill>
                  <a:srgbClr val="E9EDFF"/>
                </a:solidFill>
                <a:latin typeface="Microsoft Sans Serif"/>
                <a:cs typeface="Microsoft Sans Serif"/>
              </a:rPr>
              <a:t>four-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direction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movement.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0526" y="5589982"/>
            <a:ext cx="4718050" cy="64897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50" spc="40" b="1">
                <a:solidFill>
                  <a:srgbClr val="7EA6F1"/>
                </a:solidFill>
                <a:latin typeface="Arial"/>
                <a:cs typeface="Arial"/>
              </a:rPr>
              <a:t>USERS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Users:</a:t>
            </a:r>
            <a:r>
              <a:rPr dirty="0" sz="1550" spc="1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students, teachers,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1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algorithm</a:t>
            </a:r>
            <a:r>
              <a:rPr dirty="0" sz="1550" spc="1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learners.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77550" y="6248398"/>
            <a:ext cx="131445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54"/>
              <a:t>Features</a:t>
            </a:r>
            <a:r>
              <a:rPr dirty="0" spc="-459"/>
              <a:t> </a:t>
            </a:r>
            <a:r>
              <a:rPr dirty="0" spc="-254"/>
              <a:t>keep</a:t>
            </a:r>
            <a:r>
              <a:rPr dirty="0" spc="-415"/>
              <a:t> </a:t>
            </a:r>
            <a:r>
              <a:rPr dirty="0" spc="-280"/>
              <a:t>experiments</a:t>
            </a:r>
            <a:r>
              <a:rPr dirty="0" spc="-455"/>
              <a:t> </a:t>
            </a:r>
            <a:r>
              <a:rPr dirty="0" spc="-254"/>
              <a:t>simple</a:t>
            </a:r>
            <a:r>
              <a:rPr dirty="0" spc="-480"/>
              <a:t> </a:t>
            </a:r>
            <a:r>
              <a:rPr dirty="0" spc="-200"/>
              <a:t>and</a:t>
            </a:r>
            <a:r>
              <a:rPr dirty="0" spc="-495"/>
              <a:t> </a:t>
            </a:r>
            <a:r>
              <a:rPr dirty="0" spc="-204"/>
              <a:t>repeatable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09600" y="1304925"/>
            <a:ext cx="3581400" cy="2209800"/>
            <a:chOff x="609600" y="1304925"/>
            <a:chExt cx="3581400" cy="2209800"/>
          </a:xfrm>
        </p:grpSpPr>
        <p:sp>
          <p:nvSpPr>
            <p:cNvPr id="5" name="object 5"/>
            <p:cNvSpPr/>
            <p:nvPr/>
          </p:nvSpPr>
          <p:spPr>
            <a:xfrm>
              <a:off x="609600" y="1304925"/>
              <a:ext cx="3581400" cy="2209800"/>
            </a:xfrm>
            <a:custGeom>
              <a:avLst/>
              <a:gdLst/>
              <a:ahLst/>
              <a:cxnLst/>
              <a:rect l="l" t="t" r="r" b="b"/>
              <a:pathLst>
                <a:path w="3581400" h="2209800">
                  <a:moveTo>
                    <a:pt x="3459607" y="0"/>
                  </a:moveTo>
                  <a:lnTo>
                    <a:pt x="121780" y="0"/>
                  </a:lnTo>
                  <a:lnTo>
                    <a:pt x="74377" y="9564"/>
                  </a:lnTo>
                  <a:lnTo>
                    <a:pt x="35667" y="35655"/>
                  </a:lnTo>
                  <a:lnTo>
                    <a:pt x="9569" y="74366"/>
                  </a:lnTo>
                  <a:lnTo>
                    <a:pt x="0" y="121792"/>
                  </a:lnTo>
                  <a:lnTo>
                    <a:pt x="0" y="2088007"/>
                  </a:lnTo>
                  <a:lnTo>
                    <a:pt x="9569" y="2135433"/>
                  </a:lnTo>
                  <a:lnTo>
                    <a:pt x="35667" y="2174144"/>
                  </a:lnTo>
                  <a:lnTo>
                    <a:pt x="74377" y="2200235"/>
                  </a:lnTo>
                  <a:lnTo>
                    <a:pt x="121780" y="2209800"/>
                  </a:lnTo>
                  <a:lnTo>
                    <a:pt x="3459607" y="2209800"/>
                  </a:lnTo>
                  <a:lnTo>
                    <a:pt x="3507033" y="2200235"/>
                  </a:lnTo>
                  <a:lnTo>
                    <a:pt x="3545744" y="2174144"/>
                  </a:lnTo>
                  <a:lnTo>
                    <a:pt x="3571835" y="2135433"/>
                  </a:lnTo>
                  <a:lnTo>
                    <a:pt x="3581400" y="2088007"/>
                  </a:lnTo>
                  <a:lnTo>
                    <a:pt x="3581400" y="121792"/>
                  </a:lnTo>
                  <a:lnTo>
                    <a:pt x="3571835" y="74366"/>
                  </a:lnTo>
                  <a:lnTo>
                    <a:pt x="3545744" y="35655"/>
                  </a:lnTo>
                  <a:lnTo>
                    <a:pt x="3507033" y="9564"/>
                  </a:lnTo>
                  <a:lnTo>
                    <a:pt x="3459607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2962" y="1538350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0"/>
                  </a:moveTo>
                  <a:lnTo>
                    <a:pt x="129368" y="6292"/>
                  </a:lnTo>
                  <a:lnTo>
                    <a:pt x="87274" y="24050"/>
                  </a:lnTo>
                  <a:lnTo>
                    <a:pt x="51611" y="51593"/>
                  </a:lnTo>
                  <a:lnTo>
                    <a:pt x="24058" y="87244"/>
                  </a:lnTo>
                  <a:lnTo>
                    <a:pt x="6294" y="129322"/>
                  </a:lnTo>
                  <a:lnTo>
                    <a:pt x="0" y="176149"/>
                  </a:lnTo>
                  <a:lnTo>
                    <a:pt x="6294" y="222984"/>
                  </a:lnTo>
                  <a:lnTo>
                    <a:pt x="24058" y="265086"/>
                  </a:lnTo>
                  <a:lnTo>
                    <a:pt x="51611" y="300767"/>
                  </a:lnTo>
                  <a:lnTo>
                    <a:pt x="87274" y="328342"/>
                  </a:lnTo>
                  <a:lnTo>
                    <a:pt x="129368" y="346123"/>
                  </a:lnTo>
                  <a:lnTo>
                    <a:pt x="176212" y="352425"/>
                  </a:lnTo>
                  <a:lnTo>
                    <a:pt x="223056" y="346123"/>
                  </a:lnTo>
                  <a:lnTo>
                    <a:pt x="265150" y="328342"/>
                  </a:lnTo>
                  <a:lnTo>
                    <a:pt x="300813" y="300767"/>
                  </a:lnTo>
                  <a:lnTo>
                    <a:pt x="328366" y="265086"/>
                  </a:lnTo>
                  <a:lnTo>
                    <a:pt x="346130" y="222984"/>
                  </a:lnTo>
                  <a:lnTo>
                    <a:pt x="352425" y="176149"/>
                  </a:lnTo>
                  <a:lnTo>
                    <a:pt x="346130" y="129322"/>
                  </a:lnTo>
                  <a:lnTo>
                    <a:pt x="328366" y="87244"/>
                  </a:lnTo>
                  <a:lnTo>
                    <a:pt x="300813" y="51593"/>
                  </a:lnTo>
                  <a:lnTo>
                    <a:pt x="265150" y="24050"/>
                  </a:lnTo>
                  <a:lnTo>
                    <a:pt x="223056" y="6292"/>
                  </a:lnTo>
                  <a:lnTo>
                    <a:pt x="176212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2962" y="1538350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0" y="176149"/>
                  </a:moveTo>
                  <a:lnTo>
                    <a:pt x="6294" y="129322"/>
                  </a:lnTo>
                  <a:lnTo>
                    <a:pt x="24058" y="87244"/>
                  </a:lnTo>
                  <a:lnTo>
                    <a:pt x="51611" y="51593"/>
                  </a:lnTo>
                  <a:lnTo>
                    <a:pt x="87274" y="24050"/>
                  </a:lnTo>
                  <a:lnTo>
                    <a:pt x="129368" y="6292"/>
                  </a:lnTo>
                  <a:lnTo>
                    <a:pt x="176212" y="0"/>
                  </a:lnTo>
                  <a:lnTo>
                    <a:pt x="223056" y="6292"/>
                  </a:lnTo>
                  <a:lnTo>
                    <a:pt x="265150" y="24050"/>
                  </a:lnTo>
                  <a:lnTo>
                    <a:pt x="300813" y="51593"/>
                  </a:lnTo>
                  <a:lnTo>
                    <a:pt x="328366" y="87244"/>
                  </a:lnTo>
                  <a:lnTo>
                    <a:pt x="346130" y="129322"/>
                  </a:lnTo>
                  <a:lnTo>
                    <a:pt x="352425" y="176149"/>
                  </a:lnTo>
                  <a:lnTo>
                    <a:pt x="346130" y="222984"/>
                  </a:lnTo>
                  <a:lnTo>
                    <a:pt x="328366" y="265086"/>
                  </a:lnTo>
                  <a:lnTo>
                    <a:pt x="300813" y="300767"/>
                  </a:lnTo>
                  <a:lnTo>
                    <a:pt x="265150" y="328342"/>
                  </a:lnTo>
                  <a:lnTo>
                    <a:pt x="223056" y="346123"/>
                  </a:lnTo>
                  <a:lnTo>
                    <a:pt x="176212" y="352425"/>
                  </a:lnTo>
                  <a:lnTo>
                    <a:pt x="129368" y="346123"/>
                  </a:lnTo>
                  <a:lnTo>
                    <a:pt x="87274" y="328342"/>
                  </a:lnTo>
                  <a:lnTo>
                    <a:pt x="51611" y="300767"/>
                  </a:lnTo>
                  <a:lnTo>
                    <a:pt x="24058" y="265086"/>
                  </a:lnTo>
                  <a:lnTo>
                    <a:pt x="6294" y="222984"/>
                  </a:lnTo>
                  <a:lnTo>
                    <a:pt x="0" y="176149"/>
                  </a:lnTo>
                  <a:close/>
                </a:path>
              </a:pathLst>
            </a:custGeom>
            <a:ln w="12700">
              <a:solidFill>
                <a:srgbClr val="454F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26135" y="1550606"/>
            <a:ext cx="2939415" cy="1022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125"/>
              </a:spcBef>
            </a:pPr>
            <a:r>
              <a:rPr dirty="0" sz="1550" spc="-25" b="1">
                <a:latin typeface="Arial"/>
                <a:cs typeface="Arial"/>
              </a:rPr>
              <a:t>01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4700"/>
              </a:lnSpc>
              <a:spcBef>
                <a:spcPts val="1005"/>
              </a:spcBef>
            </a:pP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Generate</a:t>
            </a:r>
            <a:r>
              <a:rPr dirty="0" sz="1800" spc="29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random</a:t>
            </a:r>
            <a:r>
              <a:rPr dirty="0" sz="1800" spc="2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E9EDFF"/>
                </a:solidFill>
                <a:latin typeface="Microsoft Sans Serif"/>
                <a:cs typeface="Microsoft Sans Serif"/>
              </a:rPr>
              <a:t>mazes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using</a:t>
            </a:r>
            <a:r>
              <a:rPr dirty="0" sz="180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size,</a:t>
            </a:r>
            <a:r>
              <a:rPr dirty="0" sz="1800" spc="1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loops,</a:t>
            </a:r>
            <a:r>
              <a:rPr dirty="0" sz="1800" spc="1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80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0">
                <a:solidFill>
                  <a:srgbClr val="E9EDFF"/>
                </a:solidFill>
                <a:latin typeface="Microsoft Sans Serif"/>
                <a:cs typeface="Microsoft Sans Serif"/>
              </a:rPr>
              <a:t>seed.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43400" y="1304925"/>
            <a:ext cx="3533775" cy="2209800"/>
            <a:chOff x="4343400" y="1304925"/>
            <a:chExt cx="3533775" cy="2209800"/>
          </a:xfrm>
        </p:grpSpPr>
        <p:sp>
          <p:nvSpPr>
            <p:cNvPr id="10" name="object 10"/>
            <p:cNvSpPr/>
            <p:nvPr/>
          </p:nvSpPr>
          <p:spPr>
            <a:xfrm>
              <a:off x="4343400" y="1304925"/>
              <a:ext cx="3533775" cy="2209800"/>
            </a:xfrm>
            <a:custGeom>
              <a:avLst/>
              <a:gdLst/>
              <a:ahLst/>
              <a:cxnLst/>
              <a:rect l="l" t="t" r="r" b="b"/>
              <a:pathLst>
                <a:path w="3533775" h="2209800">
                  <a:moveTo>
                    <a:pt x="3411981" y="0"/>
                  </a:moveTo>
                  <a:lnTo>
                    <a:pt x="121792" y="0"/>
                  </a:lnTo>
                  <a:lnTo>
                    <a:pt x="74366" y="9564"/>
                  </a:lnTo>
                  <a:lnTo>
                    <a:pt x="35655" y="35655"/>
                  </a:lnTo>
                  <a:lnTo>
                    <a:pt x="9564" y="74366"/>
                  </a:lnTo>
                  <a:lnTo>
                    <a:pt x="0" y="121792"/>
                  </a:lnTo>
                  <a:lnTo>
                    <a:pt x="0" y="2088007"/>
                  </a:lnTo>
                  <a:lnTo>
                    <a:pt x="9564" y="2135433"/>
                  </a:lnTo>
                  <a:lnTo>
                    <a:pt x="35655" y="2174144"/>
                  </a:lnTo>
                  <a:lnTo>
                    <a:pt x="74366" y="2200235"/>
                  </a:lnTo>
                  <a:lnTo>
                    <a:pt x="121792" y="2209800"/>
                  </a:lnTo>
                  <a:lnTo>
                    <a:pt x="3411981" y="2209800"/>
                  </a:lnTo>
                  <a:lnTo>
                    <a:pt x="3459408" y="2200235"/>
                  </a:lnTo>
                  <a:lnTo>
                    <a:pt x="3498119" y="2174144"/>
                  </a:lnTo>
                  <a:lnTo>
                    <a:pt x="3524210" y="2135433"/>
                  </a:lnTo>
                  <a:lnTo>
                    <a:pt x="3533775" y="2088007"/>
                  </a:lnTo>
                  <a:lnTo>
                    <a:pt x="3533775" y="121792"/>
                  </a:lnTo>
                  <a:lnTo>
                    <a:pt x="3524210" y="74366"/>
                  </a:lnTo>
                  <a:lnTo>
                    <a:pt x="3498119" y="35655"/>
                  </a:lnTo>
                  <a:lnTo>
                    <a:pt x="3459408" y="9564"/>
                  </a:lnTo>
                  <a:lnTo>
                    <a:pt x="3411981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6825" y="153835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674" y="0"/>
                  </a:moveTo>
                  <a:lnTo>
                    <a:pt x="136289" y="6627"/>
                  </a:lnTo>
                  <a:lnTo>
                    <a:pt x="91929" y="25334"/>
                  </a:lnTo>
                  <a:lnTo>
                    <a:pt x="54356" y="54355"/>
                  </a:lnTo>
                  <a:lnTo>
                    <a:pt x="25334" y="91929"/>
                  </a:lnTo>
                  <a:lnTo>
                    <a:pt x="6627" y="136289"/>
                  </a:lnTo>
                  <a:lnTo>
                    <a:pt x="0" y="185674"/>
                  </a:lnTo>
                  <a:lnTo>
                    <a:pt x="6627" y="235067"/>
                  </a:lnTo>
                  <a:lnTo>
                    <a:pt x="25334" y="279451"/>
                  </a:lnTo>
                  <a:lnTo>
                    <a:pt x="54355" y="317055"/>
                  </a:lnTo>
                  <a:lnTo>
                    <a:pt x="91929" y="346107"/>
                  </a:lnTo>
                  <a:lnTo>
                    <a:pt x="136289" y="364838"/>
                  </a:lnTo>
                  <a:lnTo>
                    <a:pt x="185674" y="371475"/>
                  </a:lnTo>
                  <a:lnTo>
                    <a:pt x="235067" y="364838"/>
                  </a:lnTo>
                  <a:lnTo>
                    <a:pt x="279451" y="346107"/>
                  </a:lnTo>
                  <a:lnTo>
                    <a:pt x="317055" y="317055"/>
                  </a:lnTo>
                  <a:lnTo>
                    <a:pt x="346107" y="279451"/>
                  </a:lnTo>
                  <a:lnTo>
                    <a:pt x="364838" y="235067"/>
                  </a:lnTo>
                  <a:lnTo>
                    <a:pt x="371475" y="185674"/>
                  </a:lnTo>
                  <a:lnTo>
                    <a:pt x="364838" y="136289"/>
                  </a:lnTo>
                  <a:lnTo>
                    <a:pt x="346107" y="91929"/>
                  </a:lnTo>
                  <a:lnTo>
                    <a:pt x="317055" y="54356"/>
                  </a:lnTo>
                  <a:lnTo>
                    <a:pt x="279451" y="25334"/>
                  </a:lnTo>
                  <a:lnTo>
                    <a:pt x="235067" y="6627"/>
                  </a:lnTo>
                  <a:lnTo>
                    <a:pt x="185674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76825" y="153835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185674"/>
                  </a:moveTo>
                  <a:lnTo>
                    <a:pt x="6627" y="136289"/>
                  </a:lnTo>
                  <a:lnTo>
                    <a:pt x="25334" y="91929"/>
                  </a:lnTo>
                  <a:lnTo>
                    <a:pt x="54356" y="54355"/>
                  </a:lnTo>
                  <a:lnTo>
                    <a:pt x="91929" y="25334"/>
                  </a:lnTo>
                  <a:lnTo>
                    <a:pt x="136289" y="6627"/>
                  </a:lnTo>
                  <a:lnTo>
                    <a:pt x="185674" y="0"/>
                  </a:lnTo>
                  <a:lnTo>
                    <a:pt x="235067" y="6627"/>
                  </a:lnTo>
                  <a:lnTo>
                    <a:pt x="279451" y="25334"/>
                  </a:lnTo>
                  <a:lnTo>
                    <a:pt x="317055" y="54356"/>
                  </a:lnTo>
                  <a:lnTo>
                    <a:pt x="346107" y="91929"/>
                  </a:lnTo>
                  <a:lnTo>
                    <a:pt x="364838" y="136289"/>
                  </a:lnTo>
                  <a:lnTo>
                    <a:pt x="371475" y="185674"/>
                  </a:lnTo>
                  <a:lnTo>
                    <a:pt x="364838" y="235067"/>
                  </a:lnTo>
                  <a:lnTo>
                    <a:pt x="346107" y="279451"/>
                  </a:lnTo>
                  <a:lnTo>
                    <a:pt x="317055" y="317055"/>
                  </a:lnTo>
                  <a:lnTo>
                    <a:pt x="279451" y="346107"/>
                  </a:lnTo>
                  <a:lnTo>
                    <a:pt x="235067" y="364838"/>
                  </a:lnTo>
                  <a:lnTo>
                    <a:pt x="185674" y="371475"/>
                  </a:lnTo>
                  <a:lnTo>
                    <a:pt x="136289" y="364838"/>
                  </a:lnTo>
                  <a:lnTo>
                    <a:pt x="91929" y="346107"/>
                  </a:lnTo>
                  <a:lnTo>
                    <a:pt x="54355" y="317055"/>
                  </a:lnTo>
                  <a:lnTo>
                    <a:pt x="25334" y="279451"/>
                  </a:lnTo>
                  <a:lnTo>
                    <a:pt x="6627" y="235067"/>
                  </a:lnTo>
                  <a:lnTo>
                    <a:pt x="0" y="185674"/>
                  </a:lnTo>
                  <a:close/>
                </a:path>
              </a:pathLst>
            </a:custGeom>
            <a:ln w="12700">
              <a:solidFill>
                <a:srgbClr val="454F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562728" y="1559242"/>
            <a:ext cx="2651760" cy="1030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</a:pPr>
            <a:r>
              <a:rPr dirty="0" sz="1550" spc="70" b="1">
                <a:latin typeface="Arial"/>
                <a:cs typeface="Arial"/>
              </a:rPr>
              <a:t>02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4700"/>
              </a:lnSpc>
              <a:spcBef>
                <a:spcPts val="1070"/>
              </a:spcBef>
            </a:pP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Paste</a:t>
            </a:r>
            <a:r>
              <a:rPr dirty="0" sz="1800" spc="1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1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custom</a:t>
            </a:r>
            <a:r>
              <a:rPr dirty="0" sz="180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maze</a:t>
            </a:r>
            <a:r>
              <a:rPr dirty="0" sz="1800" spc="1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65">
                <a:solidFill>
                  <a:srgbClr val="E9EDFF"/>
                </a:solidFill>
                <a:latin typeface="Microsoft Sans Serif"/>
                <a:cs typeface="Microsoft Sans Serif"/>
              </a:rPr>
              <a:t>for </a:t>
            </a:r>
            <a:r>
              <a:rPr dirty="0" sz="1800" spc="45">
                <a:solidFill>
                  <a:srgbClr val="E9EDFF"/>
                </a:solidFill>
                <a:latin typeface="Microsoft Sans Serif"/>
                <a:cs typeface="Microsoft Sans Serif"/>
              </a:rPr>
              <a:t>testing.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29575" y="1304925"/>
            <a:ext cx="3552825" cy="2209800"/>
            <a:chOff x="8029575" y="1304925"/>
            <a:chExt cx="3552825" cy="2209800"/>
          </a:xfrm>
        </p:grpSpPr>
        <p:sp>
          <p:nvSpPr>
            <p:cNvPr id="15" name="object 15"/>
            <p:cNvSpPr/>
            <p:nvPr/>
          </p:nvSpPr>
          <p:spPr>
            <a:xfrm>
              <a:off x="8029575" y="1304925"/>
              <a:ext cx="3552825" cy="2209800"/>
            </a:xfrm>
            <a:custGeom>
              <a:avLst/>
              <a:gdLst/>
              <a:ahLst/>
              <a:cxnLst/>
              <a:rect l="l" t="t" r="r" b="b"/>
              <a:pathLst>
                <a:path w="3552825" h="2209800">
                  <a:moveTo>
                    <a:pt x="3431031" y="0"/>
                  </a:moveTo>
                  <a:lnTo>
                    <a:pt x="121793" y="0"/>
                  </a:lnTo>
                  <a:lnTo>
                    <a:pt x="74366" y="9564"/>
                  </a:lnTo>
                  <a:lnTo>
                    <a:pt x="35655" y="35655"/>
                  </a:lnTo>
                  <a:lnTo>
                    <a:pt x="9564" y="74366"/>
                  </a:lnTo>
                  <a:lnTo>
                    <a:pt x="0" y="121792"/>
                  </a:lnTo>
                  <a:lnTo>
                    <a:pt x="0" y="2088007"/>
                  </a:lnTo>
                  <a:lnTo>
                    <a:pt x="9564" y="2135433"/>
                  </a:lnTo>
                  <a:lnTo>
                    <a:pt x="35655" y="2174144"/>
                  </a:lnTo>
                  <a:lnTo>
                    <a:pt x="74366" y="2200235"/>
                  </a:lnTo>
                  <a:lnTo>
                    <a:pt x="121793" y="2209800"/>
                  </a:lnTo>
                  <a:lnTo>
                    <a:pt x="3431031" y="2209800"/>
                  </a:lnTo>
                  <a:lnTo>
                    <a:pt x="3478458" y="2200235"/>
                  </a:lnTo>
                  <a:lnTo>
                    <a:pt x="3517169" y="2174144"/>
                  </a:lnTo>
                  <a:lnTo>
                    <a:pt x="3543260" y="2135433"/>
                  </a:lnTo>
                  <a:lnTo>
                    <a:pt x="3552825" y="2088007"/>
                  </a:lnTo>
                  <a:lnTo>
                    <a:pt x="3552825" y="121792"/>
                  </a:lnTo>
                  <a:lnTo>
                    <a:pt x="3543260" y="74366"/>
                  </a:lnTo>
                  <a:lnTo>
                    <a:pt x="3517169" y="35655"/>
                  </a:lnTo>
                  <a:lnTo>
                    <a:pt x="3478458" y="9564"/>
                  </a:lnTo>
                  <a:lnTo>
                    <a:pt x="3431031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263000" y="15383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46797" y="5027"/>
                  </a:lnTo>
                  <a:lnTo>
                    <a:pt x="106691" y="19349"/>
                  </a:lnTo>
                  <a:lnTo>
                    <a:pt x="71321" y="41827"/>
                  </a:lnTo>
                  <a:lnTo>
                    <a:pt x="41827" y="71321"/>
                  </a:lnTo>
                  <a:lnTo>
                    <a:pt x="19349" y="106691"/>
                  </a:lnTo>
                  <a:lnTo>
                    <a:pt x="5027" y="146797"/>
                  </a:lnTo>
                  <a:lnTo>
                    <a:pt x="0" y="190500"/>
                  </a:lnTo>
                  <a:lnTo>
                    <a:pt x="5027" y="234162"/>
                  </a:lnTo>
                  <a:lnTo>
                    <a:pt x="19349" y="274253"/>
                  </a:lnTo>
                  <a:lnTo>
                    <a:pt x="41827" y="309625"/>
                  </a:lnTo>
                  <a:lnTo>
                    <a:pt x="71321" y="339132"/>
                  </a:lnTo>
                  <a:lnTo>
                    <a:pt x="106691" y="361627"/>
                  </a:lnTo>
                  <a:lnTo>
                    <a:pt x="146797" y="375965"/>
                  </a:lnTo>
                  <a:lnTo>
                    <a:pt x="190500" y="381000"/>
                  </a:lnTo>
                  <a:lnTo>
                    <a:pt x="234162" y="375965"/>
                  </a:lnTo>
                  <a:lnTo>
                    <a:pt x="274253" y="361627"/>
                  </a:lnTo>
                  <a:lnTo>
                    <a:pt x="309625" y="339132"/>
                  </a:lnTo>
                  <a:lnTo>
                    <a:pt x="339132" y="309625"/>
                  </a:lnTo>
                  <a:lnTo>
                    <a:pt x="361627" y="274253"/>
                  </a:lnTo>
                  <a:lnTo>
                    <a:pt x="375965" y="234162"/>
                  </a:lnTo>
                  <a:lnTo>
                    <a:pt x="381000" y="190500"/>
                  </a:lnTo>
                  <a:lnTo>
                    <a:pt x="375965" y="146797"/>
                  </a:lnTo>
                  <a:lnTo>
                    <a:pt x="361627" y="106691"/>
                  </a:lnTo>
                  <a:lnTo>
                    <a:pt x="339132" y="71321"/>
                  </a:lnTo>
                  <a:lnTo>
                    <a:pt x="309625" y="41827"/>
                  </a:lnTo>
                  <a:lnTo>
                    <a:pt x="274253" y="19349"/>
                  </a:lnTo>
                  <a:lnTo>
                    <a:pt x="234162" y="5027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263000" y="15383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27" y="146797"/>
                  </a:lnTo>
                  <a:lnTo>
                    <a:pt x="19349" y="106691"/>
                  </a:lnTo>
                  <a:lnTo>
                    <a:pt x="41827" y="71321"/>
                  </a:lnTo>
                  <a:lnTo>
                    <a:pt x="71321" y="41827"/>
                  </a:lnTo>
                  <a:lnTo>
                    <a:pt x="106691" y="19349"/>
                  </a:lnTo>
                  <a:lnTo>
                    <a:pt x="146797" y="5027"/>
                  </a:lnTo>
                  <a:lnTo>
                    <a:pt x="190500" y="0"/>
                  </a:lnTo>
                  <a:lnTo>
                    <a:pt x="234162" y="5027"/>
                  </a:lnTo>
                  <a:lnTo>
                    <a:pt x="274253" y="19349"/>
                  </a:lnTo>
                  <a:lnTo>
                    <a:pt x="309625" y="41827"/>
                  </a:lnTo>
                  <a:lnTo>
                    <a:pt x="339132" y="71321"/>
                  </a:lnTo>
                  <a:lnTo>
                    <a:pt x="361627" y="106691"/>
                  </a:lnTo>
                  <a:lnTo>
                    <a:pt x="375965" y="146797"/>
                  </a:lnTo>
                  <a:lnTo>
                    <a:pt x="381000" y="190500"/>
                  </a:lnTo>
                  <a:lnTo>
                    <a:pt x="375965" y="234162"/>
                  </a:lnTo>
                  <a:lnTo>
                    <a:pt x="361627" y="274253"/>
                  </a:lnTo>
                  <a:lnTo>
                    <a:pt x="339132" y="309625"/>
                  </a:lnTo>
                  <a:lnTo>
                    <a:pt x="309625" y="339132"/>
                  </a:lnTo>
                  <a:lnTo>
                    <a:pt x="274253" y="361627"/>
                  </a:lnTo>
                  <a:lnTo>
                    <a:pt x="234162" y="375965"/>
                  </a:lnTo>
                  <a:lnTo>
                    <a:pt x="190500" y="381000"/>
                  </a:lnTo>
                  <a:lnTo>
                    <a:pt x="146797" y="375965"/>
                  </a:lnTo>
                  <a:lnTo>
                    <a:pt x="106691" y="361627"/>
                  </a:lnTo>
                  <a:lnTo>
                    <a:pt x="71321" y="339132"/>
                  </a:lnTo>
                  <a:lnTo>
                    <a:pt x="41827" y="309625"/>
                  </a:lnTo>
                  <a:lnTo>
                    <a:pt x="19349" y="274253"/>
                  </a:lnTo>
                  <a:lnTo>
                    <a:pt x="5027" y="234162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454F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248395" y="1565211"/>
            <a:ext cx="3121660" cy="10369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</a:pPr>
            <a:r>
              <a:rPr dirty="0" sz="1550" spc="114" b="1">
                <a:latin typeface="Arial"/>
                <a:cs typeface="Arial"/>
              </a:rPr>
              <a:t>03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4700"/>
              </a:lnSpc>
              <a:spcBef>
                <a:spcPts val="1120"/>
              </a:spcBef>
            </a:pPr>
            <a:r>
              <a:rPr dirty="0" sz="1800" spc="70">
                <a:solidFill>
                  <a:srgbClr val="E9EDFF"/>
                </a:solidFill>
                <a:latin typeface="Microsoft Sans Serif"/>
                <a:cs typeface="Microsoft Sans Serif"/>
              </a:rPr>
              <a:t>Show</a:t>
            </a:r>
            <a:r>
              <a:rPr dirty="0" sz="1800" spc="23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comparison</a:t>
            </a:r>
            <a:r>
              <a:rPr dirty="0" sz="1800" spc="2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tables</a:t>
            </a:r>
            <a:r>
              <a:rPr dirty="0" sz="1800" spc="2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30">
                <a:solidFill>
                  <a:srgbClr val="E9EDFF"/>
                </a:solidFill>
                <a:latin typeface="Microsoft Sans Serif"/>
                <a:cs typeface="Microsoft Sans Serif"/>
              </a:rPr>
              <a:t>and </a:t>
            </a:r>
            <a:r>
              <a:rPr dirty="0" sz="1800" spc="50">
                <a:solidFill>
                  <a:srgbClr val="E9EDFF"/>
                </a:solidFill>
                <a:latin typeface="Microsoft Sans Serif"/>
                <a:cs typeface="Microsoft Sans Serif"/>
              </a:rPr>
              <a:t>bar</a:t>
            </a:r>
            <a:r>
              <a:rPr dirty="0" sz="1800" spc="-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0">
                <a:solidFill>
                  <a:srgbClr val="E9EDFF"/>
                </a:solidFill>
                <a:latin typeface="Microsoft Sans Serif"/>
                <a:cs typeface="Microsoft Sans Serif"/>
              </a:rPr>
              <a:t>charts.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600" y="3667125"/>
            <a:ext cx="3581400" cy="2209800"/>
            <a:chOff x="609600" y="3667125"/>
            <a:chExt cx="3581400" cy="2209800"/>
          </a:xfrm>
        </p:grpSpPr>
        <p:sp>
          <p:nvSpPr>
            <p:cNvPr id="20" name="object 20"/>
            <p:cNvSpPr/>
            <p:nvPr/>
          </p:nvSpPr>
          <p:spPr>
            <a:xfrm>
              <a:off x="609600" y="3667125"/>
              <a:ext cx="3581400" cy="2209800"/>
            </a:xfrm>
            <a:custGeom>
              <a:avLst/>
              <a:gdLst/>
              <a:ahLst/>
              <a:cxnLst/>
              <a:rect l="l" t="t" r="r" b="b"/>
              <a:pathLst>
                <a:path w="3581400" h="2209800">
                  <a:moveTo>
                    <a:pt x="3459607" y="0"/>
                  </a:moveTo>
                  <a:lnTo>
                    <a:pt x="121780" y="0"/>
                  </a:lnTo>
                  <a:lnTo>
                    <a:pt x="74377" y="9564"/>
                  </a:lnTo>
                  <a:lnTo>
                    <a:pt x="35667" y="35655"/>
                  </a:lnTo>
                  <a:lnTo>
                    <a:pt x="9569" y="74366"/>
                  </a:lnTo>
                  <a:lnTo>
                    <a:pt x="0" y="121793"/>
                  </a:lnTo>
                  <a:lnTo>
                    <a:pt x="0" y="2088019"/>
                  </a:lnTo>
                  <a:lnTo>
                    <a:pt x="9569" y="2135422"/>
                  </a:lnTo>
                  <a:lnTo>
                    <a:pt x="35667" y="2174132"/>
                  </a:lnTo>
                  <a:lnTo>
                    <a:pt x="74377" y="2200230"/>
                  </a:lnTo>
                  <a:lnTo>
                    <a:pt x="121780" y="2209800"/>
                  </a:lnTo>
                  <a:lnTo>
                    <a:pt x="3459607" y="2209800"/>
                  </a:lnTo>
                  <a:lnTo>
                    <a:pt x="3507033" y="2200230"/>
                  </a:lnTo>
                  <a:lnTo>
                    <a:pt x="3545744" y="2174132"/>
                  </a:lnTo>
                  <a:lnTo>
                    <a:pt x="3571835" y="2135422"/>
                  </a:lnTo>
                  <a:lnTo>
                    <a:pt x="3581400" y="2088019"/>
                  </a:lnTo>
                  <a:lnTo>
                    <a:pt x="3581400" y="121793"/>
                  </a:lnTo>
                  <a:lnTo>
                    <a:pt x="3571835" y="74366"/>
                  </a:lnTo>
                  <a:lnTo>
                    <a:pt x="3545744" y="35655"/>
                  </a:lnTo>
                  <a:lnTo>
                    <a:pt x="3507033" y="9564"/>
                  </a:lnTo>
                  <a:lnTo>
                    <a:pt x="3459607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42962" y="39005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262" y="0"/>
                  </a:moveTo>
                  <a:lnTo>
                    <a:pt x="150492" y="5154"/>
                  </a:lnTo>
                  <a:lnTo>
                    <a:pt x="109393" y="19837"/>
                  </a:lnTo>
                  <a:lnTo>
                    <a:pt x="73137" y="42877"/>
                  </a:lnTo>
                  <a:lnTo>
                    <a:pt x="42898" y="73104"/>
                  </a:lnTo>
                  <a:lnTo>
                    <a:pt x="19847" y="109347"/>
                  </a:lnTo>
                  <a:lnTo>
                    <a:pt x="5157" y="150436"/>
                  </a:lnTo>
                  <a:lnTo>
                    <a:pt x="0" y="195199"/>
                  </a:lnTo>
                  <a:lnTo>
                    <a:pt x="5157" y="239968"/>
                  </a:lnTo>
                  <a:lnTo>
                    <a:pt x="19847" y="281075"/>
                  </a:lnTo>
                  <a:lnTo>
                    <a:pt x="42898" y="317343"/>
                  </a:lnTo>
                  <a:lnTo>
                    <a:pt x="73137" y="347597"/>
                  </a:lnTo>
                  <a:lnTo>
                    <a:pt x="109393" y="370662"/>
                  </a:lnTo>
                  <a:lnTo>
                    <a:pt x="150492" y="385363"/>
                  </a:lnTo>
                  <a:lnTo>
                    <a:pt x="195262" y="390525"/>
                  </a:lnTo>
                  <a:lnTo>
                    <a:pt x="240032" y="385363"/>
                  </a:lnTo>
                  <a:lnTo>
                    <a:pt x="281131" y="370662"/>
                  </a:lnTo>
                  <a:lnTo>
                    <a:pt x="317387" y="347597"/>
                  </a:lnTo>
                  <a:lnTo>
                    <a:pt x="347626" y="317343"/>
                  </a:lnTo>
                  <a:lnTo>
                    <a:pt x="370677" y="281075"/>
                  </a:lnTo>
                  <a:lnTo>
                    <a:pt x="385367" y="239968"/>
                  </a:lnTo>
                  <a:lnTo>
                    <a:pt x="390525" y="195199"/>
                  </a:lnTo>
                  <a:lnTo>
                    <a:pt x="385367" y="150436"/>
                  </a:lnTo>
                  <a:lnTo>
                    <a:pt x="370677" y="109347"/>
                  </a:lnTo>
                  <a:lnTo>
                    <a:pt x="347626" y="73104"/>
                  </a:lnTo>
                  <a:lnTo>
                    <a:pt x="317387" y="42877"/>
                  </a:lnTo>
                  <a:lnTo>
                    <a:pt x="281131" y="19837"/>
                  </a:lnTo>
                  <a:lnTo>
                    <a:pt x="240032" y="5154"/>
                  </a:lnTo>
                  <a:lnTo>
                    <a:pt x="195262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2962" y="39005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195199"/>
                  </a:moveTo>
                  <a:lnTo>
                    <a:pt x="5157" y="150436"/>
                  </a:lnTo>
                  <a:lnTo>
                    <a:pt x="19847" y="109347"/>
                  </a:lnTo>
                  <a:lnTo>
                    <a:pt x="42898" y="73104"/>
                  </a:lnTo>
                  <a:lnTo>
                    <a:pt x="73137" y="42877"/>
                  </a:lnTo>
                  <a:lnTo>
                    <a:pt x="109393" y="19837"/>
                  </a:lnTo>
                  <a:lnTo>
                    <a:pt x="150492" y="5154"/>
                  </a:lnTo>
                  <a:lnTo>
                    <a:pt x="195262" y="0"/>
                  </a:lnTo>
                  <a:lnTo>
                    <a:pt x="240032" y="5154"/>
                  </a:lnTo>
                  <a:lnTo>
                    <a:pt x="281131" y="19837"/>
                  </a:lnTo>
                  <a:lnTo>
                    <a:pt x="317387" y="42877"/>
                  </a:lnTo>
                  <a:lnTo>
                    <a:pt x="347626" y="73104"/>
                  </a:lnTo>
                  <a:lnTo>
                    <a:pt x="370677" y="109347"/>
                  </a:lnTo>
                  <a:lnTo>
                    <a:pt x="385367" y="150436"/>
                  </a:lnTo>
                  <a:lnTo>
                    <a:pt x="390525" y="195199"/>
                  </a:lnTo>
                  <a:lnTo>
                    <a:pt x="385367" y="239968"/>
                  </a:lnTo>
                  <a:lnTo>
                    <a:pt x="370677" y="281075"/>
                  </a:lnTo>
                  <a:lnTo>
                    <a:pt x="347626" y="317343"/>
                  </a:lnTo>
                  <a:lnTo>
                    <a:pt x="317387" y="347597"/>
                  </a:lnTo>
                  <a:lnTo>
                    <a:pt x="281131" y="370662"/>
                  </a:lnTo>
                  <a:lnTo>
                    <a:pt x="240032" y="385363"/>
                  </a:lnTo>
                  <a:lnTo>
                    <a:pt x="195262" y="390525"/>
                  </a:lnTo>
                  <a:lnTo>
                    <a:pt x="150492" y="385363"/>
                  </a:lnTo>
                  <a:lnTo>
                    <a:pt x="109393" y="370662"/>
                  </a:lnTo>
                  <a:lnTo>
                    <a:pt x="73137" y="347597"/>
                  </a:lnTo>
                  <a:lnTo>
                    <a:pt x="42898" y="317343"/>
                  </a:lnTo>
                  <a:lnTo>
                    <a:pt x="19847" y="281075"/>
                  </a:lnTo>
                  <a:lnTo>
                    <a:pt x="5157" y="239968"/>
                  </a:lnTo>
                  <a:lnTo>
                    <a:pt x="0" y="195199"/>
                  </a:lnTo>
                  <a:close/>
                </a:path>
              </a:pathLst>
            </a:custGeom>
            <a:ln w="12700">
              <a:solidFill>
                <a:srgbClr val="454F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26135" y="3936047"/>
            <a:ext cx="2770505" cy="103949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</a:pPr>
            <a:r>
              <a:rPr dirty="0" sz="1550" spc="135" b="1">
                <a:latin typeface="Arial"/>
                <a:cs typeface="Arial"/>
              </a:rPr>
              <a:t>04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14700"/>
              </a:lnSpc>
              <a:spcBef>
                <a:spcPts val="1140"/>
              </a:spcBef>
            </a:pP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Animate</a:t>
            </a:r>
            <a:r>
              <a:rPr dirty="0" sz="1800" spc="1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50">
                <a:solidFill>
                  <a:srgbClr val="E9EDFF"/>
                </a:solidFill>
                <a:latin typeface="Microsoft Sans Serif"/>
                <a:cs typeface="Microsoft Sans Serif"/>
              </a:rPr>
              <a:t>steps</a:t>
            </a:r>
            <a:r>
              <a:rPr dirty="0" sz="180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90">
                <a:solidFill>
                  <a:srgbClr val="E9EDFF"/>
                </a:solidFill>
                <a:latin typeface="Microsoft Sans Serif"/>
                <a:cs typeface="Microsoft Sans Serif"/>
              </a:rPr>
              <a:t>with</a:t>
            </a:r>
            <a:r>
              <a:rPr dirty="0" sz="180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a</a:t>
            </a:r>
            <a:r>
              <a:rPr dirty="0" sz="180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30">
                <a:solidFill>
                  <a:srgbClr val="E9EDFF"/>
                </a:solidFill>
                <a:latin typeface="Microsoft Sans Serif"/>
                <a:cs typeface="Microsoft Sans Serif"/>
              </a:rPr>
              <a:t>play </a:t>
            </a:r>
            <a:r>
              <a:rPr dirty="0" sz="1800" spc="65">
                <a:solidFill>
                  <a:srgbClr val="E9EDFF"/>
                </a:solidFill>
                <a:latin typeface="Microsoft Sans Serif"/>
                <a:cs typeface="Microsoft Sans Serif"/>
              </a:rPr>
              <a:t>button.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343400" y="3667125"/>
            <a:ext cx="7239000" cy="2209800"/>
            <a:chOff x="4343400" y="3667125"/>
            <a:chExt cx="7239000" cy="2209800"/>
          </a:xfrm>
        </p:grpSpPr>
        <p:sp>
          <p:nvSpPr>
            <p:cNvPr id="25" name="object 25"/>
            <p:cNvSpPr/>
            <p:nvPr/>
          </p:nvSpPr>
          <p:spPr>
            <a:xfrm>
              <a:off x="4343400" y="3667125"/>
              <a:ext cx="7239000" cy="2209800"/>
            </a:xfrm>
            <a:custGeom>
              <a:avLst/>
              <a:gdLst/>
              <a:ahLst/>
              <a:cxnLst/>
              <a:rect l="l" t="t" r="r" b="b"/>
              <a:pathLst>
                <a:path w="7239000" h="2209800">
                  <a:moveTo>
                    <a:pt x="7117207" y="0"/>
                  </a:moveTo>
                  <a:lnTo>
                    <a:pt x="121792" y="0"/>
                  </a:lnTo>
                  <a:lnTo>
                    <a:pt x="74366" y="9564"/>
                  </a:lnTo>
                  <a:lnTo>
                    <a:pt x="35655" y="35655"/>
                  </a:lnTo>
                  <a:lnTo>
                    <a:pt x="9564" y="74366"/>
                  </a:lnTo>
                  <a:lnTo>
                    <a:pt x="0" y="121793"/>
                  </a:lnTo>
                  <a:lnTo>
                    <a:pt x="0" y="2088019"/>
                  </a:lnTo>
                  <a:lnTo>
                    <a:pt x="9564" y="2135422"/>
                  </a:lnTo>
                  <a:lnTo>
                    <a:pt x="35655" y="2174132"/>
                  </a:lnTo>
                  <a:lnTo>
                    <a:pt x="74366" y="2200230"/>
                  </a:lnTo>
                  <a:lnTo>
                    <a:pt x="121792" y="2209800"/>
                  </a:lnTo>
                  <a:lnTo>
                    <a:pt x="7117207" y="2209800"/>
                  </a:lnTo>
                  <a:lnTo>
                    <a:pt x="7164633" y="2200230"/>
                  </a:lnTo>
                  <a:lnTo>
                    <a:pt x="7203344" y="2174132"/>
                  </a:lnTo>
                  <a:lnTo>
                    <a:pt x="7229435" y="2135422"/>
                  </a:lnTo>
                  <a:lnTo>
                    <a:pt x="7239000" y="2088019"/>
                  </a:lnTo>
                  <a:lnTo>
                    <a:pt x="7239000" y="121793"/>
                  </a:lnTo>
                  <a:lnTo>
                    <a:pt x="7229435" y="74366"/>
                  </a:lnTo>
                  <a:lnTo>
                    <a:pt x="7203344" y="35655"/>
                  </a:lnTo>
                  <a:lnTo>
                    <a:pt x="7164633" y="9564"/>
                  </a:lnTo>
                  <a:lnTo>
                    <a:pt x="7117207" y="0"/>
                  </a:lnTo>
                  <a:close/>
                </a:path>
              </a:pathLst>
            </a:custGeom>
            <a:solidFill>
              <a:srgbClr val="15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76825" y="39005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195199" y="0"/>
                  </a:moveTo>
                  <a:lnTo>
                    <a:pt x="150436" y="5154"/>
                  </a:lnTo>
                  <a:lnTo>
                    <a:pt x="109347" y="19837"/>
                  </a:lnTo>
                  <a:lnTo>
                    <a:pt x="73104" y="42877"/>
                  </a:lnTo>
                  <a:lnTo>
                    <a:pt x="42877" y="73104"/>
                  </a:lnTo>
                  <a:lnTo>
                    <a:pt x="19837" y="109347"/>
                  </a:lnTo>
                  <a:lnTo>
                    <a:pt x="5154" y="150436"/>
                  </a:lnTo>
                  <a:lnTo>
                    <a:pt x="0" y="195199"/>
                  </a:lnTo>
                  <a:lnTo>
                    <a:pt x="5154" y="239968"/>
                  </a:lnTo>
                  <a:lnTo>
                    <a:pt x="19837" y="281075"/>
                  </a:lnTo>
                  <a:lnTo>
                    <a:pt x="42877" y="317343"/>
                  </a:lnTo>
                  <a:lnTo>
                    <a:pt x="73104" y="347597"/>
                  </a:lnTo>
                  <a:lnTo>
                    <a:pt x="109347" y="370662"/>
                  </a:lnTo>
                  <a:lnTo>
                    <a:pt x="150436" y="385363"/>
                  </a:lnTo>
                  <a:lnTo>
                    <a:pt x="195199" y="390525"/>
                  </a:lnTo>
                  <a:lnTo>
                    <a:pt x="239968" y="385363"/>
                  </a:lnTo>
                  <a:lnTo>
                    <a:pt x="281075" y="370662"/>
                  </a:lnTo>
                  <a:lnTo>
                    <a:pt x="317343" y="347597"/>
                  </a:lnTo>
                  <a:lnTo>
                    <a:pt x="347597" y="317343"/>
                  </a:lnTo>
                  <a:lnTo>
                    <a:pt x="370662" y="281075"/>
                  </a:lnTo>
                  <a:lnTo>
                    <a:pt x="385363" y="239968"/>
                  </a:lnTo>
                  <a:lnTo>
                    <a:pt x="390525" y="195199"/>
                  </a:lnTo>
                  <a:lnTo>
                    <a:pt x="385363" y="150436"/>
                  </a:lnTo>
                  <a:lnTo>
                    <a:pt x="370662" y="109347"/>
                  </a:lnTo>
                  <a:lnTo>
                    <a:pt x="347597" y="73104"/>
                  </a:lnTo>
                  <a:lnTo>
                    <a:pt x="317343" y="42877"/>
                  </a:lnTo>
                  <a:lnTo>
                    <a:pt x="281075" y="19837"/>
                  </a:lnTo>
                  <a:lnTo>
                    <a:pt x="239968" y="5154"/>
                  </a:lnTo>
                  <a:lnTo>
                    <a:pt x="195199" y="0"/>
                  </a:lnTo>
                  <a:close/>
                </a:path>
              </a:pathLst>
            </a:custGeom>
            <a:solidFill>
              <a:srgbClr val="7EA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76825" y="39005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0" y="195199"/>
                  </a:moveTo>
                  <a:lnTo>
                    <a:pt x="5154" y="150436"/>
                  </a:lnTo>
                  <a:lnTo>
                    <a:pt x="19837" y="109347"/>
                  </a:lnTo>
                  <a:lnTo>
                    <a:pt x="42877" y="73104"/>
                  </a:lnTo>
                  <a:lnTo>
                    <a:pt x="73104" y="42877"/>
                  </a:lnTo>
                  <a:lnTo>
                    <a:pt x="109347" y="19837"/>
                  </a:lnTo>
                  <a:lnTo>
                    <a:pt x="150436" y="5154"/>
                  </a:lnTo>
                  <a:lnTo>
                    <a:pt x="195199" y="0"/>
                  </a:lnTo>
                  <a:lnTo>
                    <a:pt x="239968" y="5154"/>
                  </a:lnTo>
                  <a:lnTo>
                    <a:pt x="281075" y="19837"/>
                  </a:lnTo>
                  <a:lnTo>
                    <a:pt x="317343" y="42877"/>
                  </a:lnTo>
                  <a:lnTo>
                    <a:pt x="347597" y="73104"/>
                  </a:lnTo>
                  <a:lnTo>
                    <a:pt x="370662" y="109347"/>
                  </a:lnTo>
                  <a:lnTo>
                    <a:pt x="385363" y="150436"/>
                  </a:lnTo>
                  <a:lnTo>
                    <a:pt x="390525" y="195199"/>
                  </a:lnTo>
                  <a:lnTo>
                    <a:pt x="385363" y="239968"/>
                  </a:lnTo>
                  <a:lnTo>
                    <a:pt x="370662" y="281075"/>
                  </a:lnTo>
                  <a:lnTo>
                    <a:pt x="347597" y="317343"/>
                  </a:lnTo>
                  <a:lnTo>
                    <a:pt x="317343" y="347597"/>
                  </a:lnTo>
                  <a:lnTo>
                    <a:pt x="281075" y="370662"/>
                  </a:lnTo>
                  <a:lnTo>
                    <a:pt x="239968" y="385363"/>
                  </a:lnTo>
                  <a:lnTo>
                    <a:pt x="195199" y="390525"/>
                  </a:lnTo>
                  <a:lnTo>
                    <a:pt x="150436" y="385363"/>
                  </a:lnTo>
                  <a:lnTo>
                    <a:pt x="109347" y="370662"/>
                  </a:lnTo>
                  <a:lnTo>
                    <a:pt x="73104" y="347597"/>
                  </a:lnTo>
                  <a:lnTo>
                    <a:pt x="42877" y="317343"/>
                  </a:lnTo>
                  <a:lnTo>
                    <a:pt x="19837" y="281075"/>
                  </a:lnTo>
                  <a:lnTo>
                    <a:pt x="5154" y="239968"/>
                  </a:lnTo>
                  <a:lnTo>
                    <a:pt x="0" y="195199"/>
                  </a:lnTo>
                  <a:close/>
                </a:path>
              </a:pathLst>
            </a:custGeom>
            <a:ln w="12700">
              <a:solidFill>
                <a:srgbClr val="454F8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562728" y="3933761"/>
            <a:ext cx="6755130" cy="7232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</a:pPr>
            <a:r>
              <a:rPr dirty="0" sz="1550" spc="114" b="1">
                <a:latin typeface="Arial"/>
                <a:cs typeface="Arial"/>
              </a:rPr>
              <a:t>05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Validate</a:t>
            </a:r>
            <a:r>
              <a:rPr dirty="0" sz="1800" spc="3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65">
                <a:solidFill>
                  <a:srgbClr val="E9EDFF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3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S,</a:t>
            </a:r>
            <a:r>
              <a:rPr dirty="0" sz="180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one</a:t>
            </a:r>
            <a:r>
              <a:rPr dirty="0" sz="1800" spc="114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50">
                <a:solidFill>
                  <a:srgbClr val="E9EDFF"/>
                </a:solidFill>
                <a:latin typeface="Microsoft Sans Serif"/>
                <a:cs typeface="Microsoft Sans Serif"/>
              </a:rPr>
              <a:t>E;</a:t>
            </a:r>
            <a:r>
              <a:rPr dirty="0" sz="1800" spc="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70">
                <a:solidFill>
                  <a:srgbClr val="E9EDFF"/>
                </a:solidFill>
                <a:latin typeface="Microsoft Sans Serif"/>
                <a:cs typeface="Microsoft Sans Serif"/>
              </a:rPr>
              <a:t>step</a:t>
            </a:r>
            <a:r>
              <a:rPr dirty="0" sz="180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limit</a:t>
            </a:r>
            <a:r>
              <a:rPr dirty="0" sz="1800" spc="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60">
                <a:solidFill>
                  <a:srgbClr val="E9EDFF"/>
                </a:solidFill>
                <a:latin typeface="Microsoft Sans Serif"/>
                <a:cs typeface="Microsoft Sans Serif"/>
              </a:rPr>
              <a:t>prevents</a:t>
            </a:r>
            <a:r>
              <a:rPr dirty="0" sz="1800" spc="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endless</a:t>
            </a:r>
            <a:r>
              <a:rPr dirty="0" sz="1800" spc="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35">
                <a:solidFill>
                  <a:srgbClr val="E9EDFF"/>
                </a:solidFill>
                <a:latin typeface="Microsoft Sans Serif"/>
                <a:cs typeface="Microsoft Sans Serif"/>
              </a:rPr>
              <a:t>backtracking.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7217" y="6054090"/>
            <a:ext cx="433197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Python</a:t>
            </a:r>
            <a:r>
              <a:rPr dirty="0" sz="1100" spc="9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3.12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a</a:t>
            </a:r>
            <a:r>
              <a:rPr dirty="0" sz="1100" spc="-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85">
                <a:solidFill>
                  <a:srgbClr val="B4C2EB"/>
                </a:solidFill>
                <a:latin typeface="Microsoft Sans Serif"/>
                <a:cs typeface="Microsoft Sans Serif"/>
              </a:rPr>
              <a:t>browser</a:t>
            </a:r>
            <a:r>
              <a:rPr dirty="0" sz="1100" spc="4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are</a:t>
            </a:r>
            <a:r>
              <a:rPr dirty="0" sz="1100" spc="4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required.</a:t>
            </a:r>
            <a:r>
              <a:rPr dirty="0" sz="1100" spc="2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No</a:t>
            </a:r>
            <a:r>
              <a:rPr dirty="0" sz="1100" spc="2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login</a:t>
            </a:r>
            <a:r>
              <a:rPr dirty="0" sz="1100" spc="9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or</a:t>
            </a:r>
            <a:r>
              <a:rPr dirty="0" sz="1100" spc="4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database.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5675" y="6419850"/>
            <a:ext cx="1076325" cy="438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7217" y="1368424"/>
            <a:ext cx="8416290" cy="5410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95"/>
              <a:t>Each</a:t>
            </a:r>
            <a:r>
              <a:rPr dirty="0" spc="-395"/>
              <a:t> </a:t>
            </a:r>
            <a:r>
              <a:rPr dirty="0" spc="-235"/>
              <a:t>solver</a:t>
            </a:r>
            <a:r>
              <a:rPr dirty="0" spc="-480"/>
              <a:t> </a:t>
            </a:r>
            <a:r>
              <a:rPr dirty="0" spc="-240"/>
              <a:t>follows</a:t>
            </a:r>
            <a:r>
              <a:rPr dirty="0" spc="-459"/>
              <a:t> </a:t>
            </a:r>
            <a:r>
              <a:rPr dirty="0" spc="-60"/>
              <a:t>a</a:t>
            </a:r>
            <a:r>
              <a:rPr dirty="0" spc="-420"/>
              <a:t> </a:t>
            </a:r>
            <a:r>
              <a:rPr dirty="0" spc="-254"/>
              <a:t>different</a:t>
            </a:r>
            <a:r>
              <a:rPr dirty="0" spc="-434"/>
              <a:t> </a:t>
            </a:r>
            <a:r>
              <a:rPr dirty="0" spc="-200"/>
              <a:t>search</a:t>
            </a:r>
            <a:r>
              <a:rPr dirty="0" spc="-470"/>
              <a:t> </a:t>
            </a:r>
            <a:r>
              <a:rPr dirty="0" spc="-220"/>
              <a:t>strategy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217" y="2121969"/>
            <a:ext cx="3636010" cy="143827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37820" indent="-32512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337820" algn="l"/>
              </a:tabLst>
            </a:pP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Input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maze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337820" algn="l"/>
              </a:tabLst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Run</a:t>
            </a:r>
            <a:r>
              <a:rPr dirty="0" sz="1550" spc="9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three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solvers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37820" algn="l"/>
              </a:tabLst>
            </a:pP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Record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path,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visited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cells,</a:t>
            </a:r>
            <a:r>
              <a:rPr dirty="0" sz="1550" spc="1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13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time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337820" algn="l"/>
              </a:tabLst>
            </a:pP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Compare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results</a:t>
            </a:r>
            <a:endParaRPr sz="1550">
              <a:latin typeface="Microsoft Sans Serif"/>
              <a:cs typeface="Microsoft Sans Serif"/>
            </a:endParaRPr>
          </a:p>
          <a:p>
            <a:pPr marL="337820" indent="-32512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37820" algn="l"/>
              </a:tabLst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Visualize</a:t>
            </a:r>
            <a:r>
              <a:rPr dirty="0" sz="1550" spc="1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1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findings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76850" y="2171700"/>
            <a:ext cx="6305550" cy="762000"/>
          </a:xfrm>
          <a:custGeom>
            <a:avLst/>
            <a:gdLst/>
            <a:ahLst/>
            <a:cxnLst/>
            <a:rect l="l" t="t" r="r" b="b"/>
            <a:pathLst>
              <a:path w="6305550" h="762000">
                <a:moveTo>
                  <a:pt x="6184265" y="0"/>
                </a:moveTo>
                <a:lnTo>
                  <a:pt x="121285" y="0"/>
                </a:lnTo>
                <a:lnTo>
                  <a:pt x="74098" y="9538"/>
                </a:lnTo>
                <a:lnTo>
                  <a:pt x="35544" y="35544"/>
                </a:lnTo>
                <a:lnTo>
                  <a:pt x="9538" y="74098"/>
                </a:lnTo>
                <a:lnTo>
                  <a:pt x="0" y="121285"/>
                </a:lnTo>
                <a:lnTo>
                  <a:pt x="0" y="640714"/>
                </a:lnTo>
                <a:lnTo>
                  <a:pt x="9538" y="687901"/>
                </a:lnTo>
                <a:lnTo>
                  <a:pt x="35544" y="726455"/>
                </a:lnTo>
                <a:lnTo>
                  <a:pt x="74098" y="752461"/>
                </a:lnTo>
                <a:lnTo>
                  <a:pt x="121285" y="762000"/>
                </a:lnTo>
                <a:lnTo>
                  <a:pt x="6184265" y="762000"/>
                </a:lnTo>
                <a:lnTo>
                  <a:pt x="6231451" y="752461"/>
                </a:lnTo>
                <a:lnTo>
                  <a:pt x="6270005" y="726455"/>
                </a:lnTo>
                <a:lnTo>
                  <a:pt x="6296011" y="687901"/>
                </a:lnTo>
                <a:lnTo>
                  <a:pt x="6305550" y="640714"/>
                </a:lnTo>
                <a:lnTo>
                  <a:pt x="6305550" y="121285"/>
                </a:lnTo>
                <a:lnTo>
                  <a:pt x="6296011" y="74098"/>
                </a:lnTo>
                <a:lnTo>
                  <a:pt x="6270005" y="35544"/>
                </a:lnTo>
                <a:lnTo>
                  <a:pt x="6231451" y="9538"/>
                </a:lnTo>
                <a:lnTo>
                  <a:pt x="6184265" y="0"/>
                </a:lnTo>
                <a:close/>
              </a:path>
            </a:pathLst>
          </a:custGeom>
          <a:solidFill>
            <a:srgbClr val="7EA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76850" y="3086100"/>
            <a:ext cx="6305550" cy="762000"/>
          </a:xfrm>
          <a:custGeom>
            <a:avLst/>
            <a:gdLst/>
            <a:ahLst/>
            <a:cxnLst/>
            <a:rect l="l" t="t" r="r" b="b"/>
            <a:pathLst>
              <a:path w="6305550" h="762000">
                <a:moveTo>
                  <a:pt x="6184265" y="0"/>
                </a:moveTo>
                <a:lnTo>
                  <a:pt x="121285" y="0"/>
                </a:lnTo>
                <a:lnTo>
                  <a:pt x="74098" y="9538"/>
                </a:lnTo>
                <a:lnTo>
                  <a:pt x="35544" y="35544"/>
                </a:lnTo>
                <a:lnTo>
                  <a:pt x="9538" y="74098"/>
                </a:lnTo>
                <a:lnTo>
                  <a:pt x="0" y="121285"/>
                </a:lnTo>
                <a:lnTo>
                  <a:pt x="0" y="640714"/>
                </a:lnTo>
                <a:lnTo>
                  <a:pt x="9538" y="687901"/>
                </a:lnTo>
                <a:lnTo>
                  <a:pt x="35544" y="726455"/>
                </a:lnTo>
                <a:lnTo>
                  <a:pt x="74098" y="752461"/>
                </a:lnTo>
                <a:lnTo>
                  <a:pt x="121285" y="762000"/>
                </a:lnTo>
                <a:lnTo>
                  <a:pt x="6184265" y="762000"/>
                </a:lnTo>
                <a:lnTo>
                  <a:pt x="6231451" y="752461"/>
                </a:lnTo>
                <a:lnTo>
                  <a:pt x="6270005" y="726455"/>
                </a:lnTo>
                <a:lnTo>
                  <a:pt x="6296011" y="687901"/>
                </a:lnTo>
                <a:lnTo>
                  <a:pt x="6305550" y="640714"/>
                </a:lnTo>
                <a:lnTo>
                  <a:pt x="6305550" y="121285"/>
                </a:lnTo>
                <a:lnTo>
                  <a:pt x="6296011" y="74098"/>
                </a:lnTo>
                <a:lnTo>
                  <a:pt x="6270005" y="35544"/>
                </a:lnTo>
                <a:lnTo>
                  <a:pt x="6231451" y="9538"/>
                </a:lnTo>
                <a:lnTo>
                  <a:pt x="6184265" y="0"/>
                </a:lnTo>
                <a:close/>
              </a:path>
            </a:pathLst>
          </a:custGeom>
          <a:solidFill>
            <a:srgbClr val="FFC2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76850" y="4000500"/>
            <a:ext cx="6305550" cy="1076325"/>
          </a:xfrm>
          <a:custGeom>
            <a:avLst/>
            <a:gdLst/>
            <a:ahLst/>
            <a:cxnLst/>
            <a:rect l="l" t="t" r="r" b="b"/>
            <a:pathLst>
              <a:path w="6305550" h="1076325">
                <a:moveTo>
                  <a:pt x="6183376" y="0"/>
                </a:moveTo>
                <a:lnTo>
                  <a:pt x="122174" y="0"/>
                </a:lnTo>
                <a:lnTo>
                  <a:pt x="74634" y="9606"/>
                </a:lnTo>
                <a:lnTo>
                  <a:pt x="35798" y="35798"/>
                </a:lnTo>
                <a:lnTo>
                  <a:pt x="9606" y="74634"/>
                </a:lnTo>
                <a:lnTo>
                  <a:pt x="0" y="122174"/>
                </a:lnTo>
                <a:lnTo>
                  <a:pt x="0" y="954151"/>
                </a:lnTo>
                <a:lnTo>
                  <a:pt x="9606" y="1001690"/>
                </a:lnTo>
                <a:lnTo>
                  <a:pt x="35798" y="1040526"/>
                </a:lnTo>
                <a:lnTo>
                  <a:pt x="74634" y="1066718"/>
                </a:lnTo>
                <a:lnTo>
                  <a:pt x="122174" y="1076325"/>
                </a:lnTo>
                <a:lnTo>
                  <a:pt x="6183376" y="1076325"/>
                </a:lnTo>
                <a:lnTo>
                  <a:pt x="6230915" y="1066718"/>
                </a:lnTo>
                <a:lnTo>
                  <a:pt x="6269751" y="1040526"/>
                </a:lnTo>
                <a:lnTo>
                  <a:pt x="6295943" y="1001690"/>
                </a:lnTo>
                <a:lnTo>
                  <a:pt x="6305550" y="954151"/>
                </a:lnTo>
                <a:lnTo>
                  <a:pt x="6305550" y="122174"/>
                </a:lnTo>
                <a:lnTo>
                  <a:pt x="6295943" y="74634"/>
                </a:lnTo>
                <a:lnTo>
                  <a:pt x="6269751" y="35798"/>
                </a:lnTo>
                <a:lnTo>
                  <a:pt x="6230915" y="9606"/>
                </a:lnTo>
                <a:lnTo>
                  <a:pt x="6183376" y="0"/>
                </a:lnTo>
                <a:close/>
              </a:path>
            </a:pathLst>
          </a:custGeom>
          <a:solidFill>
            <a:srgbClr val="9BD2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92750" y="2387917"/>
            <a:ext cx="5505450" cy="245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Microsoft Sans Serif"/>
                <a:cs typeface="Microsoft Sans Serif"/>
              </a:rPr>
              <a:t>BFS</a:t>
            </a:r>
            <a:r>
              <a:rPr dirty="0" sz="1800" spc="1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uses</a:t>
            </a:r>
            <a:r>
              <a:rPr dirty="0" sz="1800" spc="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</a:t>
            </a:r>
            <a:r>
              <a:rPr dirty="0" sz="1800" spc="4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queue;</a:t>
            </a:r>
            <a:r>
              <a:rPr dirty="0" sz="1800" spc="50">
                <a:latin typeface="Microsoft Sans Serif"/>
                <a:cs typeface="Microsoft Sans Serif"/>
              </a:rPr>
              <a:t> </a:t>
            </a:r>
            <a:r>
              <a:rPr dirty="0" sz="1800" spc="95">
                <a:latin typeface="Microsoft Sans Serif"/>
                <a:cs typeface="Microsoft Sans Serif"/>
              </a:rPr>
              <a:t>it</a:t>
            </a:r>
            <a:r>
              <a:rPr dirty="0" sz="1800" spc="-5">
                <a:latin typeface="Microsoft Sans Serif"/>
                <a:cs typeface="Microsoft Sans Serif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finds</a:t>
            </a:r>
            <a:r>
              <a:rPr dirty="0" sz="1800" spc="-30">
                <a:latin typeface="Microsoft Sans Serif"/>
                <a:cs typeface="Microsoft Sans Serif"/>
              </a:rPr>
              <a:t> </a:t>
            </a:r>
            <a:r>
              <a:rPr dirty="0" sz="1800" spc="75">
                <a:latin typeface="Microsoft Sans Serif"/>
                <a:cs typeface="Microsoft Sans Serif"/>
              </a:rPr>
              <a:t>shortest</a:t>
            </a:r>
            <a:r>
              <a:rPr dirty="0" sz="1800">
                <a:latin typeface="Microsoft Sans Serif"/>
                <a:cs typeface="Microsoft Sans Serif"/>
              </a:rPr>
              <a:t> </a:t>
            </a:r>
            <a:r>
              <a:rPr dirty="0" sz="1800" spc="60">
                <a:latin typeface="Microsoft Sans Serif"/>
                <a:cs typeface="Microsoft Sans Serif"/>
              </a:rPr>
              <a:t>paths</a:t>
            </a:r>
            <a:r>
              <a:rPr dirty="0" sz="1800" spc="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5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O(V+E).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Microsoft Sans Serif"/>
                <a:cs typeface="Microsoft Sans Serif"/>
              </a:rPr>
              <a:t>DFS</a:t>
            </a:r>
            <a:r>
              <a:rPr dirty="0" sz="1800" spc="5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uses</a:t>
            </a:r>
            <a:r>
              <a:rPr dirty="0" sz="1800" spc="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</a:t>
            </a:r>
            <a:r>
              <a:rPr dirty="0" sz="1800" spc="8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stack;</a:t>
            </a:r>
            <a:r>
              <a:rPr dirty="0" sz="1800" spc="85">
                <a:latin typeface="Microsoft Sans Serif"/>
                <a:cs typeface="Microsoft Sans Serif"/>
              </a:rPr>
              <a:t> </a:t>
            </a:r>
            <a:r>
              <a:rPr dirty="0" sz="1800" spc="95">
                <a:latin typeface="Microsoft Sans Serif"/>
                <a:cs typeface="Microsoft Sans Serif"/>
              </a:rPr>
              <a:t>it</a:t>
            </a:r>
            <a:r>
              <a:rPr dirty="0" sz="1800" spc="35">
                <a:latin typeface="Microsoft Sans Serif"/>
                <a:cs typeface="Microsoft Sans Serif"/>
              </a:rPr>
              <a:t> </a:t>
            </a:r>
            <a:r>
              <a:rPr dirty="0" sz="1800" spc="50">
                <a:latin typeface="Microsoft Sans Serif"/>
                <a:cs typeface="Microsoft Sans Serif"/>
              </a:rPr>
              <a:t>goes</a:t>
            </a:r>
            <a:r>
              <a:rPr dirty="0" sz="1800" spc="5">
                <a:latin typeface="Microsoft Sans Serif"/>
                <a:cs typeface="Microsoft Sans Serif"/>
              </a:rPr>
              <a:t> </a:t>
            </a:r>
            <a:r>
              <a:rPr dirty="0" sz="1800" spc="50">
                <a:latin typeface="Microsoft Sans Serif"/>
                <a:cs typeface="Microsoft Sans Serif"/>
              </a:rPr>
              <a:t>deep</a:t>
            </a:r>
            <a:r>
              <a:rPr dirty="0" sz="1800" spc="65">
                <a:latin typeface="Microsoft Sans Serif"/>
                <a:cs typeface="Microsoft Sans Serif"/>
              </a:rPr>
              <a:t> </a:t>
            </a:r>
            <a:r>
              <a:rPr dirty="0" sz="1800" spc="55">
                <a:latin typeface="Microsoft Sans Serif"/>
                <a:cs typeface="Microsoft Sans Serif"/>
              </a:rPr>
              <a:t>and</a:t>
            </a:r>
            <a:r>
              <a:rPr dirty="0" sz="1800" spc="6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may</a:t>
            </a:r>
            <a:r>
              <a:rPr dirty="0" sz="1800" spc="7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be</a:t>
            </a:r>
            <a:r>
              <a:rPr dirty="0" sz="1800" spc="130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longer.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131445">
              <a:lnSpc>
                <a:spcPct val="114700"/>
              </a:lnSpc>
            </a:pPr>
            <a:r>
              <a:rPr dirty="0" sz="1800" spc="45">
                <a:latin typeface="Microsoft Sans Serif"/>
                <a:cs typeface="Microsoft Sans Serif"/>
              </a:rPr>
              <a:t>Backtracking</a:t>
            </a:r>
            <a:r>
              <a:rPr dirty="0" sz="1800" spc="200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chooses,</a:t>
            </a:r>
            <a:r>
              <a:rPr dirty="0" sz="1800" spc="229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checks,</a:t>
            </a:r>
            <a:r>
              <a:rPr dirty="0" sz="1800" spc="229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and</a:t>
            </a:r>
            <a:r>
              <a:rPr dirty="0" sz="1800" spc="204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undoes;</a:t>
            </a:r>
            <a:r>
              <a:rPr dirty="0" sz="1800" spc="229">
                <a:latin typeface="Microsoft Sans Serif"/>
                <a:cs typeface="Microsoft Sans Serif"/>
              </a:rPr>
              <a:t> </a:t>
            </a:r>
            <a:r>
              <a:rPr dirty="0" sz="1800" spc="95">
                <a:latin typeface="Microsoft Sans Serif"/>
                <a:cs typeface="Microsoft Sans Serif"/>
              </a:rPr>
              <a:t>worst </a:t>
            </a:r>
            <a:r>
              <a:rPr dirty="0" sz="1800">
                <a:latin typeface="Microsoft Sans Serif"/>
                <a:cs typeface="Microsoft Sans Serif"/>
              </a:rPr>
              <a:t>case</a:t>
            </a:r>
            <a:r>
              <a:rPr dirty="0" sz="1800" spc="85">
                <a:latin typeface="Microsoft Sans Serif"/>
                <a:cs typeface="Microsoft Sans Serif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45">
                <a:latin typeface="Microsoft Sans Serif"/>
                <a:cs typeface="Microsoft Sans Serif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exponential.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4150" y="5188584"/>
            <a:ext cx="356235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Maze</a:t>
            </a:r>
            <a:r>
              <a:rPr dirty="0" sz="1100" spc="114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is</a:t>
            </a:r>
            <a:r>
              <a:rPr dirty="0" sz="1100" spc="1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a</a:t>
            </a:r>
            <a:r>
              <a:rPr dirty="0" sz="1100" spc="14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grid</a:t>
            </a:r>
            <a:r>
              <a:rPr dirty="0" sz="1100" spc="16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graph;</a:t>
            </a:r>
            <a:r>
              <a:rPr dirty="0" sz="1100" spc="1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5">
                <a:solidFill>
                  <a:srgbClr val="B4C2EB"/>
                </a:solidFill>
                <a:latin typeface="Microsoft Sans Serif"/>
                <a:cs typeface="Microsoft Sans Serif"/>
              </a:rPr>
              <a:t>randomized</a:t>
            </a:r>
            <a:r>
              <a:rPr dirty="0" sz="1100" spc="16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DFS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generates</a:t>
            </a:r>
            <a:r>
              <a:rPr dirty="0" sz="1100" spc="1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30">
                <a:solidFill>
                  <a:srgbClr val="B4C2EB"/>
                </a:solidFill>
                <a:latin typeface="Microsoft Sans Serif"/>
                <a:cs typeface="Microsoft Sans Serif"/>
              </a:rPr>
              <a:t>it.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60"/>
              <a:t>Simple</a:t>
            </a:r>
            <a:r>
              <a:rPr dirty="0" spc="-465"/>
              <a:t> </a:t>
            </a:r>
            <a:r>
              <a:rPr dirty="0" spc="-240"/>
              <a:t>architecture,</a:t>
            </a:r>
            <a:r>
              <a:rPr dirty="0" spc="-355"/>
              <a:t> </a:t>
            </a:r>
            <a:r>
              <a:rPr dirty="0" spc="-240"/>
              <a:t>focused</a:t>
            </a:r>
            <a:r>
              <a:rPr dirty="0" spc="-405"/>
              <a:t> </a:t>
            </a:r>
            <a:r>
              <a:rPr dirty="0" spc="-300"/>
              <a:t>implementation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352550"/>
            <a:ext cx="238125" cy="28575"/>
          </a:xfrm>
          <a:custGeom>
            <a:avLst/>
            <a:gdLst/>
            <a:ahLst/>
            <a:cxnLst/>
            <a:rect l="l" t="t" r="r" b="b"/>
            <a:pathLst>
              <a:path w="238125" h="28575">
                <a:moveTo>
                  <a:pt x="231724" y="0"/>
                </a:moveTo>
                <a:lnTo>
                  <a:pt x="6400" y="0"/>
                </a:lnTo>
                <a:lnTo>
                  <a:pt x="0" y="6350"/>
                </a:lnTo>
                <a:lnTo>
                  <a:pt x="0" y="14350"/>
                </a:lnTo>
                <a:lnTo>
                  <a:pt x="0" y="22225"/>
                </a:lnTo>
                <a:lnTo>
                  <a:pt x="6400" y="28575"/>
                </a:lnTo>
                <a:lnTo>
                  <a:pt x="231724" y="28575"/>
                </a:lnTo>
                <a:lnTo>
                  <a:pt x="238125" y="22225"/>
                </a:lnTo>
                <a:lnTo>
                  <a:pt x="238125" y="6350"/>
                </a:lnTo>
                <a:lnTo>
                  <a:pt x="231724" y="0"/>
                </a:lnTo>
                <a:close/>
              </a:path>
            </a:pathLst>
          </a:custGeom>
          <a:solidFill>
            <a:srgbClr val="7EA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97217" y="1610931"/>
            <a:ext cx="4591050" cy="10579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Python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0">
                <a:solidFill>
                  <a:srgbClr val="E9EDFF"/>
                </a:solidFill>
                <a:latin typeface="Microsoft Sans Serif"/>
                <a:cs typeface="Microsoft Sans Serif"/>
              </a:rPr>
              <a:t>powers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algorithms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9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application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0">
                <a:solidFill>
                  <a:srgbClr val="E9EDFF"/>
                </a:solidFill>
                <a:latin typeface="Microsoft Sans Serif"/>
                <a:cs typeface="Microsoft Sans Serif"/>
              </a:rPr>
              <a:t>logic.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Streamlit</a:t>
            </a:r>
            <a:r>
              <a:rPr dirty="0" sz="1550" spc="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provides</a:t>
            </a:r>
            <a:r>
              <a:rPr dirty="0" sz="1550" spc="114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user</a:t>
            </a:r>
            <a:r>
              <a:rPr dirty="0" sz="1550" spc="1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interface.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Matplotlib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90">
                <a:solidFill>
                  <a:srgbClr val="E9EDFF"/>
                </a:solidFill>
                <a:latin typeface="Microsoft Sans Serif"/>
                <a:cs typeface="Microsoft Sans Serif"/>
              </a:rPr>
              <a:t>draws</a:t>
            </a:r>
            <a:r>
              <a:rPr dirty="0" sz="1550" spc="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animations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charts.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0526" y="1565211"/>
            <a:ext cx="5299710" cy="989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4417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Pandas</a:t>
            </a:r>
            <a:r>
              <a:rPr dirty="0" sz="1550" spc="1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creates</a:t>
            </a:r>
            <a:r>
              <a:rPr dirty="0" sz="1550" spc="2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comparison</a:t>
            </a:r>
            <a:r>
              <a:rPr dirty="0" sz="1550" spc="1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tables;</a:t>
            </a:r>
            <a:r>
              <a:rPr dirty="0" sz="1550" spc="2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NumPy</a:t>
            </a:r>
            <a:r>
              <a:rPr dirty="0" sz="1550" spc="14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supports grid</a:t>
            </a:r>
            <a:r>
              <a:rPr dirty="0" sz="1550" spc="-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operations.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maze.py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contains</a:t>
            </a:r>
            <a:r>
              <a:rPr dirty="0" sz="1550" spc="-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algorithms;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app.py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contains</a:t>
            </a:r>
            <a:r>
              <a:rPr dirty="0" sz="1550" spc="-1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interface.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9600" y="4933950"/>
            <a:ext cx="10972800" cy="1314450"/>
          </a:xfrm>
          <a:custGeom>
            <a:avLst/>
            <a:gdLst/>
            <a:ahLst/>
            <a:cxnLst/>
            <a:rect l="l" t="t" r="r" b="b"/>
            <a:pathLst>
              <a:path w="10972800" h="1314450">
                <a:moveTo>
                  <a:pt x="10851261" y="0"/>
                </a:moveTo>
                <a:lnTo>
                  <a:pt x="121526" y="0"/>
                </a:lnTo>
                <a:lnTo>
                  <a:pt x="74221" y="9542"/>
                </a:lnTo>
                <a:lnTo>
                  <a:pt x="35593" y="35575"/>
                </a:lnTo>
                <a:lnTo>
                  <a:pt x="9549" y="74205"/>
                </a:lnTo>
                <a:lnTo>
                  <a:pt x="0" y="121538"/>
                </a:lnTo>
                <a:lnTo>
                  <a:pt x="0" y="1192923"/>
                </a:lnTo>
                <a:lnTo>
                  <a:pt x="9549" y="1240228"/>
                </a:lnTo>
                <a:lnTo>
                  <a:pt x="35593" y="1278856"/>
                </a:lnTo>
                <a:lnTo>
                  <a:pt x="74221" y="1304900"/>
                </a:lnTo>
                <a:lnTo>
                  <a:pt x="121526" y="1314450"/>
                </a:lnTo>
                <a:lnTo>
                  <a:pt x="10851261" y="1314450"/>
                </a:lnTo>
                <a:lnTo>
                  <a:pt x="10898594" y="1304900"/>
                </a:lnTo>
                <a:lnTo>
                  <a:pt x="10937224" y="1278856"/>
                </a:lnTo>
                <a:lnTo>
                  <a:pt x="10963257" y="1240228"/>
                </a:lnTo>
                <a:lnTo>
                  <a:pt x="10972800" y="1192923"/>
                </a:lnTo>
                <a:lnTo>
                  <a:pt x="10972800" y="121538"/>
                </a:lnTo>
                <a:lnTo>
                  <a:pt x="10963257" y="74205"/>
                </a:lnTo>
                <a:lnTo>
                  <a:pt x="10937224" y="35575"/>
                </a:lnTo>
                <a:lnTo>
                  <a:pt x="10898594" y="9542"/>
                </a:lnTo>
                <a:lnTo>
                  <a:pt x="10851261" y="0"/>
                </a:lnTo>
                <a:close/>
              </a:path>
            </a:pathLst>
          </a:custGeom>
          <a:solidFill>
            <a:srgbClr val="15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26135" y="5078767"/>
            <a:ext cx="5313680" cy="944244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050" b="1">
                <a:solidFill>
                  <a:srgbClr val="E9EDFF"/>
                </a:solidFill>
                <a:latin typeface="Arial"/>
                <a:cs typeface="Arial"/>
              </a:rPr>
              <a:t>ARC</a:t>
            </a:r>
            <a:r>
              <a:rPr dirty="0" sz="1050" spc="-75" b="1">
                <a:solidFill>
                  <a:srgbClr val="E9EDF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E9EDFF"/>
                </a:solidFill>
                <a:latin typeface="Arial"/>
                <a:cs typeface="Arial"/>
              </a:rPr>
              <a:t>HI</a:t>
            </a:r>
            <a:r>
              <a:rPr dirty="0" sz="1050" spc="-70" b="1">
                <a:solidFill>
                  <a:srgbClr val="E9EDFF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E9EDFF"/>
                </a:solidFill>
                <a:latin typeface="Arial"/>
                <a:cs typeface="Arial"/>
              </a:rPr>
              <a:t>TEC</a:t>
            </a:r>
            <a:r>
              <a:rPr dirty="0" sz="1050" spc="-70" b="1">
                <a:solidFill>
                  <a:srgbClr val="E9EDFF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E9EDFF"/>
                </a:solidFill>
                <a:latin typeface="Arial"/>
                <a:cs typeface="Arial"/>
              </a:rPr>
              <a:t>TURE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2345690" algn="l"/>
                <a:tab pos="4450080" algn="l"/>
              </a:tabLst>
            </a:pPr>
            <a:r>
              <a:rPr dirty="0" sz="1800" spc="-20">
                <a:solidFill>
                  <a:srgbClr val="E9EDFF"/>
                </a:solidFill>
                <a:latin typeface="Microsoft Sans Serif"/>
                <a:cs typeface="Microsoft Sans Serif"/>
              </a:rPr>
              <a:t>User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	Streamlit</a:t>
            </a:r>
            <a:r>
              <a:rPr dirty="0" sz="1800" spc="29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25">
                <a:solidFill>
                  <a:srgbClr val="E9EDFF"/>
                </a:solidFill>
                <a:latin typeface="Microsoft Sans Serif"/>
                <a:cs typeface="Microsoft Sans Serif"/>
              </a:rPr>
              <a:t>UI</a:t>
            </a:r>
            <a:r>
              <a:rPr dirty="0" sz="1800">
                <a:solidFill>
                  <a:srgbClr val="E9EDFF"/>
                </a:solidFill>
                <a:latin typeface="Microsoft Sans Serif"/>
                <a:cs typeface="Microsoft Sans Serif"/>
              </a:rPr>
              <a:t>	</a:t>
            </a:r>
            <a:r>
              <a:rPr dirty="0" sz="1800" spc="-10">
                <a:solidFill>
                  <a:srgbClr val="E9EDFF"/>
                </a:solidFill>
                <a:latin typeface="Microsoft Sans Serif"/>
                <a:cs typeface="Microsoft Sans Serif"/>
              </a:rPr>
              <a:t>Solvers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100" spc="65">
                <a:solidFill>
                  <a:srgbClr val="E9EDFF"/>
                </a:solidFill>
                <a:latin typeface="Microsoft Sans Serif"/>
                <a:cs typeface="Microsoft Sans Serif"/>
              </a:rPr>
              <a:t>Architecture:</a:t>
            </a:r>
            <a:r>
              <a:rPr dirty="0" sz="1100" spc="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E9EDFF"/>
                </a:solidFill>
                <a:latin typeface="Microsoft Sans Serif"/>
                <a:cs typeface="Microsoft Sans Serif"/>
              </a:rPr>
              <a:t>User</a:t>
            </a:r>
            <a:r>
              <a:rPr dirty="0" sz="1100" spc="10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20">
                <a:solidFill>
                  <a:srgbClr val="E9EDF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E9EDFF"/>
                </a:solidFill>
                <a:latin typeface="Microsoft Sans Serif"/>
                <a:cs typeface="Microsoft Sans Serif"/>
              </a:rPr>
              <a:t>Streamlit</a:t>
            </a:r>
            <a:r>
              <a:rPr dirty="0" sz="1100" spc="19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E9EDFF"/>
                </a:solidFill>
                <a:latin typeface="Microsoft Sans Serif"/>
                <a:cs typeface="Microsoft Sans Serif"/>
              </a:rPr>
              <a:t>UI</a:t>
            </a:r>
            <a:r>
              <a:rPr dirty="0" sz="110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20">
                <a:solidFill>
                  <a:srgbClr val="E9EDF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E9EDFF"/>
                </a:solidFill>
                <a:latin typeface="Microsoft Sans Serif"/>
                <a:cs typeface="Microsoft Sans Serif"/>
              </a:rPr>
              <a:t>Solvers</a:t>
            </a:r>
            <a:r>
              <a:rPr dirty="0" sz="1100" spc="1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20">
                <a:solidFill>
                  <a:srgbClr val="E9EDF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E9EDFF"/>
                </a:solidFill>
                <a:latin typeface="Microsoft Sans Serif"/>
                <a:cs typeface="Microsoft Sans Serif"/>
              </a:rPr>
              <a:t>Results</a:t>
            </a:r>
            <a:r>
              <a:rPr dirty="0" sz="1100" spc="19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320">
                <a:solidFill>
                  <a:srgbClr val="E9EDFF"/>
                </a:solidFill>
                <a:latin typeface="Microsoft Sans Serif"/>
                <a:cs typeface="Microsoft Sans Serif"/>
              </a:rPr>
              <a:t>→</a:t>
            </a:r>
            <a:r>
              <a:rPr dirty="0" sz="110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5">
                <a:solidFill>
                  <a:srgbClr val="E9EDFF"/>
                </a:solidFill>
                <a:latin typeface="Microsoft Sans Serif"/>
                <a:cs typeface="Microsoft Sans Serif"/>
              </a:rPr>
              <a:t>Charts.</a:t>
            </a:r>
            <a:r>
              <a:rPr dirty="0" sz="1100" spc="1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E9EDFF"/>
                </a:solidFill>
                <a:latin typeface="Microsoft Sans Serif"/>
                <a:cs typeface="Microsoft Sans Serif"/>
              </a:rPr>
              <a:t>No</a:t>
            </a:r>
            <a:r>
              <a:rPr dirty="0" sz="1100" spc="1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35">
                <a:solidFill>
                  <a:srgbClr val="E9EDFF"/>
                </a:solidFill>
                <a:latin typeface="Microsoft Sans Serif"/>
                <a:cs typeface="Microsoft Sans Serif"/>
              </a:rPr>
              <a:t>database.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8920" y="5414645"/>
            <a:ext cx="8083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E9EDFF"/>
                </a:solidFill>
                <a:latin typeface="Microsoft Sans Serif"/>
                <a:cs typeface="Microsoft Sans Serif"/>
              </a:rPr>
              <a:t>Results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3700" y="5419725"/>
            <a:ext cx="6324600" cy="304800"/>
          </a:xfrm>
          <a:custGeom>
            <a:avLst/>
            <a:gdLst/>
            <a:ahLst/>
            <a:cxnLst/>
            <a:rect l="l" t="t" r="r" b="b"/>
            <a:pathLst>
              <a:path w="6324600" h="304800">
                <a:moveTo>
                  <a:pt x="9525" y="0"/>
                </a:moveTo>
                <a:lnTo>
                  <a:pt x="0" y="0"/>
                </a:lnTo>
                <a:lnTo>
                  <a:pt x="0" y="304800"/>
                </a:lnTo>
                <a:lnTo>
                  <a:pt x="9525" y="304800"/>
                </a:lnTo>
                <a:lnTo>
                  <a:pt x="9525" y="0"/>
                </a:lnTo>
                <a:close/>
              </a:path>
              <a:path w="6324600" h="304800">
                <a:moveTo>
                  <a:pt x="2114550" y="0"/>
                </a:moveTo>
                <a:lnTo>
                  <a:pt x="2105025" y="0"/>
                </a:lnTo>
                <a:lnTo>
                  <a:pt x="2105025" y="304800"/>
                </a:lnTo>
                <a:lnTo>
                  <a:pt x="2114550" y="304800"/>
                </a:lnTo>
                <a:lnTo>
                  <a:pt x="2114550" y="0"/>
                </a:lnTo>
                <a:close/>
              </a:path>
              <a:path w="6324600" h="304800">
                <a:moveTo>
                  <a:pt x="4219575" y="0"/>
                </a:moveTo>
                <a:lnTo>
                  <a:pt x="4210050" y="0"/>
                </a:lnTo>
                <a:lnTo>
                  <a:pt x="4210050" y="304800"/>
                </a:lnTo>
                <a:lnTo>
                  <a:pt x="4219575" y="304800"/>
                </a:lnTo>
                <a:lnTo>
                  <a:pt x="4219575" y="0"/>
                </a:lnTo>
                <a:close/>
              </a:path>
              <a:path w="6324600" h="304800">
                <a:moveTo>
                  <a:pt x="6324600" y="0"/>
                </a:moveTo>
                <a:lnTo>
                  <a:pt x="6315075" y="0"/>
                </a:lnTo>
                <a:lnTo>
                  <a:pt x="6315075" y="304800"/>
                </a:lnTo>
                <a:lnTo>
                  <a:pt x="6324600" y="304800"/>
                </a:lnTo>
                <a:lnTo>
                  <a:pt x="6324600" y="0"/>
                </a:lnTo>
                <a:close/>
              </a:path>
            </a:pathLst>
          </a:custGeom>
          <a:solidFill>
            <a:srgbClr val="2B3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473565" y="5414645"/>
            <a:ext cx="7327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E9EDFF"/>
                </a:solidFill>
                <a:latin typeface="Microsoft Sans Serif"/>
                <a:cs typeface="Microsoft Sans Serif"/>
              </a:rPr>
              <a:t>Charts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7217" y="511810"/>
            <a:ext cx="4749165" cy="970280"/>
          </a:xfrm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775"/>
              </a:spcBef>
            </a:pPr>
            <a:r>
              <a:rPr dirty="0" spc="-254"/>
              <a:t>BFS</a:t>
            </a:r>
            <a:r>
              <a:rPr dirty="0" spc="-459"/>
              <a:t> </a:t>
            </a:r>
            <a:r>
              <a:rPr dirty="0" spc="-245"/>
              <a:t>wins</a:t>
            </a:r>
            <a:r>
              <a:rPr dirty="0" spc="-465"/>
              <a:t> </a:t>
            </a:r>
            <a:r>
              <a:rPr dirty="0" spc="-245"/>
              <a:t>path</a:t>
            </a:r>
            <a:r>
              <a:rPr dirty="0" spc="-475"/>
              <a:t> </a:t>
            </a:r>
            <a:r>
              <a:rPr dirty="0" spc="-285"/>
              <a:t>length;</a:t>
            </a:r>
            <a:r>
              <a:rPr dirty="0" spc="-395"/>
              <a:t> </a:t>
            </a:r>
            <a:r>
              <a:rPr dirty="0" spc="-335"/>
              <a:t>DFS </a:t>
            </a:r>
            <a:r>
              <a:rPr dirty="0" spc="-280"/>
              <a:t>may</a:t>
            </a:r>
            <a:r>
              <a:rPr dirty="0" spc="-395"/>
              <a:t> </a:t>
            </a:r>
            <a:r>
              <a:rPr dirty="0" spc="-254"/>
              <a:t>visit</a:t>
            </a:r>
            <a:r>
              <a:rPr dirty="0" spc="-430"/>
              <a:t> </a:t>
            </a:r>
            <a:r>
              <a:rPr dirty="0" spc="-245"/>
              <a:t>fewer</a:t>
            </a:r>
            <a:r>
              <a:rPr dirty="0" spc="-480"/>
              <a:t> </a:t>
            </a:r>
            <a:r>
              <a:rPr dirty="0" spc="-10"/>
              <a:t>cells</a:t>
            </a:r>
          </a:p>
        </p:txBody>
      </p:sp>
      <p:pic>
        <p:nvPicPr>
          <p:cNvPr id="4" name="object 4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1666875"/>
            <a:ext cx="5514975" cy="2266950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643876" y="603250"/>
          <a:ext cx="4020820" cy="3194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8855"/>
                <a:gridCol w="1537970"/>
                <a:gridCol w="1395095"/>
              </a:tblGrid>
              <a:tr h="801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dirty="0" sz="1550" spc="-2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Maze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0D174F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Solver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0D174F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 marR="610870">
                        <a:lnSpc>
                          <a:spcPct val="104900"/>
                        </a:lnSpc>
                        <a:spcBef>
                          <a:spcPts val="1030"/>
                        </a:spcBef>
                      </a:pPr>
                      <a:r>
                        <a:rPr dirty="0" sz="1550" spc="-10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Cells </a:t>
                      </a:r>
                      <a:r>
                        <a:rPr dirty="0" sz="1550" spc="45">
                          <a:solidFill>
                            <a:srgbClr val="FFFFFF"/>
                          </a:solidFill>
                          <a:latin typeface="Microsoft Sans Serif"/>
                          <a:cs typeface="Microsoft Sans Serif"/>
                        </a:rPr>
                        <a:t>visited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0D174F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</a:tr>
              <a:tr h="802005">
                <a:tc>
                  <a:txBody>
                    <a:bodyPr/>
                    <a:lstStyle/>
                    <a:p>
                      <a:pPr marL="158115" marR="320675">
                        <a:lnSpc>
                          <a:spcPct val="104900"/>
                        </a:lnSpc>
                        <a:spcBef>
                          <a:spcPts val="1040"/>
                        </a:spcBef>
                      </a:pPr>
                      <a:r>
                        <a:rPr dirty="0" sz="1550" spc="40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550" spc="4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loops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BFS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dirty="0" sz="1550" spc="-2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219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</a:tr>
              <a:tr h="8013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dirty="0" sz="1550" spc="40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No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550" spc="4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loops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4780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8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550" spc="-2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DFS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550" spc="-2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191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2B3980"/>
                      </a:solidFill>
                      <a:prstDash val="solid"/>
                    </a:lnB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marL="158115" marR="320675">
                        <a:lnSpc>
                          <a:spcPct val="105000"/>
                        </a:lnSpc>
                        <a:spcBef>
                          <a:spcPts val="1005"/>
                        </a:spcBef>
                      </a:pPr>
                      <a:r>
                        <a:rPr dirty="0" sz="1550" spc="40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No </a:t>
                      </a:r>
                      <a:r>
                        <a:rPr dirty="0" sz="1550" spc="4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loops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0D17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 marR="262890">
                        <a:lnSpc>
                          <a:spcPct val="105000"/>
                        </a:lnSpc>
                        <a:spcBef>
                          <a:spcPts val="1005"/>
                        </a:spcBef>
                      </a:pPr>
                      <a:r>
                        <a:rPr dirty="0" sz="1550" spc="4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Backtrackin </a:t>
                      </a:r>
                      <a:r>
                        <a:rPr dirty="0" sz="1550" spc="35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g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0D174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550" spc="80">
                          <a:solidFill>
                            <a:srgbClr val="E9EDFF"/>
                          </a:solidFill>
                          <a:latin typeface="Microsoft Sans Serif"/>
                          <a:cs typeface="Microsoft Sans Serif"/>
                        </a:rPr>
                        <a:t>439</a:t>
                      </a:r>
                      <a:endParaRPr sz="15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D174F"/>
                      </a:solidFill>
                      <a:prstDash val="solid"/>
                    </a:lnL>
                    <a:lnR w="12700">
                      <a:solidFill>
                        <a:srgbClr val="0D174F"/>
                      </a:solidFill>
                      <a:prstDash val="solid"/>
                    </a:lnR>
                    <a:lnT w="12700">
                      <a:solidFill>
                        <a:srgbClr val="2B3980"/>
                      </a:solidFill>
                      <a:prstDash val="solid"/>
                    </a:lnT>
                    <a:lnB w="12700">
                      <a:solidFill>
                        <a:srgbClr val="0D174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97217" y="4002658"/>
            <a:ext cx="404495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>
                <a:solidFill>
                  <a:srgbClr val="B4C2EB"/>
                </a:solidFill>
                <a:latin typeface="Microsoft Sans Serif"/>
                <a:cs typeface="Microsoft Sans Serif"/>
              </a:rPr>
              <a:t>31×31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maze,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seed</a:t>
            </a:r>
            <a:r>
              <a:rPr dirty="0" sz="1100" spc="1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7,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no</a:t>
            </a:r>
            <a:r>
              <a:rPr dirty="0" sz="1100" spc="15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loops: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all</a:t>
            </a:r>
            <a:r>
              <a:rPr dirty="0" sz="1100" spc="1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5">
                <a:solidFill>
                  <a:srgbClr val="B4C2EB"/>
                </a:solidFill>
                <a:latin typeface="Microsoft Sans Serif"/>
                <a:cs typeface="Microsoft Sans Serif"/>
              </a:rPr>
              <a:t>paths</a:t>
            </a:r>
            <a:r>
              <a:rPr dirty="0" sz="1100" spc="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measure</a:t>
            </a:r>
            <a:r>
              <a:rPr dirty="0" sz="1100" spc="9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180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steps.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3494" y="3975671"/>
            <a:ext cx="25260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10%</a:t>
            </a:r>
            <a:r>
              <a:rPr dirty="0" sz="1100" spc="9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loops:</a:t>
            </a:r>
            <a:r>
              <a:rPr dirty="0" sz="1100" spc="12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BFS</a:t>
            </a:r>
            <a:r>
              <a:rPr dirty="0" sz="1100" spc="12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68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steps</a:t>
            </a:r>
            <a:r>
              <a:rPr dirty="0" sz="1100" spc="1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35">
                <a:solidFill>
                  <a:srgbClr val="B4C2EB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479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B4C2EB"/>
                </a:solidFill>
                <a:latin typeface="Microsoft Sans Serif"/>
                <a:cs typeface="Microsoft Sans Serif"/>
              </a:rPr>
              <a:t>cells.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217" y="4364672"/>
            <a:ext cx="457771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Test</a:t>
            </a:r>
            <a:r>
              <a:rPr dirty="0" sz="1100" spc="12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perfect,</a:t>
            </a:r>
            <a:r>
              <a:rPr dirty="0" sz="1100" spc="19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looped,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05">
                <a:solidFill>
                  <a:srgbClr val="B4C2EB"/>
                </a:solidFill>
                <a:latin typeface="Microsoft Sans Serif"/>
                <a:cs typeface="Microsoft Sans Serif"/>
              </a:rPr>
              <a:t>no-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path,</a:t>
            </a:r>
            <a:r>
              <a:rPr dirty="0" sz="1100" spc="1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invalid,</a:t>
            </a:r>
            <a:r>
              <a:rPr dirty="0" sz="1100" spc="9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large,</a:t>
            </a:r>
            <a:r>
              <a:rPr dirty="0" sz="1100" spc="1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110">
                <a:solidFill>
                  <a:srgbClr val="B4C2EB"/>
                </a:solidFill>
                <a:latin typeface="Microsoft Sans Serif"/>
                <a:cs typeface="Microsoft Sans Serif"/>
              </a:rPr>
              <a:t>step-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limit</a:t>
            </a:r>
            <a:r>
              <a:rPr dirty="0" sz="1100" spc="12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B4C2EB"/>
                </a:solidFill>
                <a:latin typeface="Microsoft Sans Serif"/>
                <a:cs typeface="Microsoft Sans Serif"/>
              </a:rPr>
              <a:t>mazes.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3494" y="4338573"/>
            <a:ext cx="244983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10%</a:t>
            </a:r>
            <a:r>
              <a:rPr dirty="0" sz="1100" spc="11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loops:</a:t>
            </a:r>
            <a:r>
              <a:rPr dirty="0" sz="1100" spc="13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DFS</a:t>
            </a:r>
            <a:r>
              <a:rPr dirty="0" sz="1100" spc="1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84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steps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29">
                <a:solidFill>
                  <a:srgbClr val="B4C2EB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10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92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B4C2EB"/>
                </a:solidFill>
                <a:latin typeface="Microsoft Sans Serif"/>
                <a:cs typeface="Microsoft Sans Serif"/>
              </a:rPr>
              <a:t>cells.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217" y="4737100"/>
            <a:ext cx="461899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Complexity</a:t>
            </a:r>
            <a:r>
              <a:rPr dirty="0" sz="1100" spc="15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table:</a:t>
            </a:r>
            <a:r>
              <a:rPr dirty="0" sz="1100" spc="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5">
                <a:solidFill>
                  <a:srgbClr val="B4C2EB"/>
                </a:solidFill>
                <a:latin typeface="Microsoft Sans Serif"/>
                <a:cs typeface="Microsoft Sans Serif"/>
              </a:rPr>
              <a:t>compare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0">
                <a:solidFill>
                  <a:srgbClr val="B4C2EB"/>
                </a:solidFill>
                <a:latin typeface="Microsoft Sans Serif"/>
                <a:cs typeface="Microsoft Sans Serif"/>
              </a:rPr>
              <a:t>time</a:t>
            </a:r>
            <a:r>
              <a:rPr dirty="0" sz="1100" spc="1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15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space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85">
                <a:solidFill>
                  <a:srgbClr val="B4C2EB"/>
                </a:solidFill>
                <a:latin typeface="Microsoft Sans Serif"/>
                <a:cs typeface="Microsoft Sans Serif"/>
              </a:rPr>
              <a:t>for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all</a:t>
            </a:r>
            <a:r>
              <a:rPr dirty="0" sz="1100" spc="4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three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0">
                <a:solidFill>
                  <a:srgbClr val="B4C2EB"/>
                </a:solidFill>
                <a:latin typeface="Microsoft Sans Serif"/>
                <a:cs typeface="Microsoft Sans Serif"/>
              </a:rPr>
              <a:t>algorithms.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3494" y="4710112"/>
            <a:ext cx="30683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10%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>
                <a:solidFill>
                  <a:srgbClr val="B4C2EB"/>
                </a:solidFill>
                <a:latin typeface="Microsoft Sans Serif"/>
                <a:cs typeface="Microsoft Sans Serif"/>
              </a:rPr>
              <a:t>loops:</a:t>
            </a:r>
            <a:r>
              <a:rPr dirty="0" sz="1100" spc="13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Backtracking</a:t>
            </a:r>
            <a:r>
              <a:rPr dirty="0" sz="1100" spc="10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88</a:t>
            </a:r>
            <a:r>
              <a:rPr dirty="0" sz="1100" spc="8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5">
                <a:solidFill>
                  <a:srgbClr val="B4C2EB"/>
                </a:solidFill>
                <a:latin typeface="Microsoft Sans Serif"/>
                <a:cs typeface="Microsoft Sans Serif"/>
              </a:rPr>
              <a:t>steps</a:t>
            </a:r>
            <a:r>
              <a:rPr dirty="0" sz="1100" spc="5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235">
                <a:solidFill>
                  <a:srgbClr val="B4C2EB"/>
                </a:solidFill>
                <a:latin typeface="Microsoft Sans Serif"/>
                <a:cs typeface="Microsoft Sans Serif"/>
              </a:rPr>
              <a:t>/</a:t>
            </a:r>
            <a:r>
              <a:rPr dirty="0" sz="1100" spc="9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89</a:t>
            </a:r>
            <a:r>
              <a:rPr dirty="0" sz="1100" spc="8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-10">
                <a:solidFill>
                  <a:srgbClr val="B4C2EB"/>
                </a:solidFill>
                <a:latin typeface="Microsoft Sans Serif"/>
                <a:cs typeface="Microsoft Sans Serif"/>
              </a:rPr>
              <a:t>cells.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217" y="5108638"/>
            <a:ext cx="33858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Screenshots:</a:t>
            </a:r>
            <a:r>
              <a:rPr dirty="0" sz="1100" spc="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5">
                <a:solidFill>
                  <a:srgbClr val="B4C2EB"/>
                </a:solidFill>
                <a:latin typeface="Microsoft Sans Serif"/>
                <a:cs typeface="Microsoft Sans Serif"/>
              </a:rPr>
              <a:t>[comparison</a:t>
            </a:r>
            <a:r>
              <a:rPr dirty="0" sz="1100" spc="3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70">
                <a:solidFill>
                  <a:srgbClr val="B4C2EB"/>
                </a:solidFill>
                <a:latin typeface="Microsoft Sans Serif"/>
                <a:cs typeface="Microsoft Sans Serif"/>
              </a:rPr>
              <a:t>table]</a:t>
            </a:r>
            <a:r>
              <a:rPr dirty="0" sz="1100" spc="40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60">
                <a:solidFill>
                  <a:srgbClr val="B4C2EB"/>
                </a:solidFill>
                <a:latin typeface="Microsoft Sans Serif"/>
                <a:cs typeface="Microsoft Sans Serif"/>
              </a:rPr>
              <a:t>and</a:t>
            </a:r>
            <a:r>
              <a:rPr dirty="0" sz="1100" spc="95">
                <a:solidFill>
                  <a:srgbClr val="B4C2EB"/>
                </a:solidFill>
                <a:latin typeface="Microsoft Sans Serif"/>
                <a:cs typeface="Microsoft Sans Serif"/>
              </a:rPr>
              <a:t> </a:t>
            </a:r>
            <a:r>
              <a:rPr dirty="0" sz="1100" spc="40">
                <a:solidFill>
                  <a:srgbClr val="B4C2EB"/>
                </a:solidFill>
                <a:latin typeface="Microsoft Sans Serif"/>
                <a:cs typeface="Microsoft Sans Serif"/>
              </a:rPr>
              <a:t>[animation]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9000" y="6419850"/>
            <a:ext cx="1076325" cy="438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562350" cy="6858000"/>
          </a:xfrm>
          <a:custGeom>
            <a:avLst/>
            <a:gdLst/>
            <a:ahLst/>
            <a:cxnLst/>
            <a:rect l="l" t="t" r="r" b="b"/>
            <a:pathLst>
              <a:path w="3562350" h="6858000">
                <a:moveTo>
                  <a:pt x="3562350" y="0"/>
                </a:moveTo>
                <a:lnTo>
                  <a:pt x="0" y="0"/>
                </a:lnTo>
                <a:lnTo>
                  <a:pt x="0" y="6858000"/>
                </a:lnTo>
                <a:lnTo>
                  <a:pt x="3562350" y="6858000"/>
                </a:lnTo>
                <a:lnTo>
                  <a:pt x="3562350" y="0"/>
                </a:lnTo>
                <a:close/>
              </a:path>
            </a:pathLst>
          </a:custGeom>
          <a:solidFill>
            <a:srgbClr val="080D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71034" y="818261"/>
            <a:ext cx="6998334" cy="1253490"/>
          </a:xfrm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1050"/>
              </a:spcBef>
            </a:pPr>
            <a:r>
              <a:rPr dirty="0" sz="4400" spc="-345"/>
              <a:t>Conclusion:</a:t>
            </a:r>
            <a:r>
              <a:rPr dirty="0" sz="4400" spc="-655"/>
              <a:t> </a:t>
            </a:r>
            <a:r>
              <a:rPr dirty="0" sz="4400" spc="-335"/>
              <a:t>choose</a:t>
            </a:r>
            <a:r>
              <a:rPr dirty="0" sz="4400" spc="-675"/>
              <a:t> </a:t>
            </a:r>
            <a:r>
              <a:rPr dirty="0" sz="4400" spc="-405"/>
              <a:t>the</a:t>
            </a:r>
            <a:r>
              <a:rPr dirty="0" sz="4400" spc="-605"/>
              <a:t> </a:t>
            </a:r>
            <a:r>
              <a:rPr dirty="0" sz="4400" spc="-350"/>
              <a:t>solver </a:t>
            </a:r>
            <a:r>
              <a:rPr dirty="0" sz="4400" spc="-320"/>
              <a:t>for</a:t>
            </a:r>
            <a:r>
              <a:rPr dirty="0" sz="4400" spc="-615"/>
              <a:t> </a:t>
            </a:r>
            <a:r>
              <a:rPr dirty="0" sz="4400" spc="-430"/>
              <a:t>the</a:t>
            </a:r>
            <a:r>
              <a:rPr dirty="0" sz="4400" spc="-605"/>
              <a:t> </a:t>
            </a:r>
            <a:r>
              <a:rPr dirty="0" sz="4400" spc="-330"/>
              <a:t>goal</a:t>
            </a:r>
            <a:endParaRPr sz="4400"/>
          </a:p>
        </p:txBody>
      </p:sp>
      <p:sp>
        <p:nvSpPr>
          <p:cNvPr id="5" name="object 5"/>
          <p:cNvSpPr/>
          <p:nvPr/>
        </p:nvSpPr>
        <p:spPr>
          <a:xfrm>
            <a:off x="4476750" y="2390775"/>
            <a:ext cx="238125" cy="28575"/>
          </a:xfrm>
          <a:custGeom>
            <a:avLst/>
            <a:gdLst/>
            <a:ahLst/>
            <a:cxnLst/>
            <a:rect l="l" t="t" r="r" b="b"/>
            <a:pathLst>
              <a:path w="238125" h="28575">
                <a:moveTo>
                  <a:pt x="231775" y="0"/>
                </a:moveTo>
                <a:lnTo>
                  <a:pt x="6350" y="0"/>
                </a:lnTo>
                <a:lnTo>
                  <a:pt x="0" y="6350"/>
                </a:lnTo>
                <a:lnTo>
                  <a:pt x="0" y="14350"/>
                </a:lnTo>
                <a:lnTo>
                  <a:pt x="0" y="22225"/>
                </a:lnTo>
                <a:lnTo>
                  <a:pt x="6350" y="28575"/>
                </a:lnTo>
                <a:lnTo>
                  <a:pt x="231775" y="28575"/>
                </a:lnTo>
                <a:lnTo>
                  <a:pt x="238125" y="22225"/>
                </a:lnTo>
                <a:lnTo>
                  <a:pt x="238125" y="6350"/>
                </a:lnTo>
                <a:lnTo>
                  <a:pt x="231775" y="0"/>
                </a:lnTo>
                <a:close/>
              </a:path>
            </a:pathLst>
          </a:custGeom>
          <a:solidFill>
            <a:srgbClr val="FFC2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7217" y="2733928"/>
            <a:ext cx="1028065" cy="1124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200" spc="-40">
                <a:solidFill>
                  <a:srgbClr val="FFC233"/>
                </a:solidFill>
                <a:latin typeface="Microsoft JhengHei UI Light"/>
                <a:cs typeface="Microsoft JhengHei UI Light"/>
              </a:rPr>
              <a:t>08</a:t>
            </a:r>
            <a:endParaRPr sz="7200">
              <a:latin typeface="Microsoft JhengHei UI Light"/>
              <a:cs typeface="Microsoft JhengHei UI Light"/>
            </a:endParaRPr>
          </a:p>
        </p:txBody>
      </p:sp>
      <p:pic>
        <p:nvPicPr>
          <p:cNvPr id="6" name="object 6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50" y="2647950"/>
            <a:ext cx="409575" cy="400050"/>
          </a:xfrm>
          <a:prstGeom prst="rect">
            <a:avLst/>
          </a:prstGeom>
        </p:spPr>
      </p:pic>
      <p:pic>
        <p:nvPicPr>
          <p:cNvPr id="8" name="object 8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05775" y="2647950"/>
            <a:ext cx="409575" cy="4000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71034" y="3121850"/>
            <a:ext cx="3006725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BFS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is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best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when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shortest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path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matters </a:t>
            </a:r>
            <a:r>
              <a:rPr dirty="0" sz="1550" spc="35">
                <a:solidFill>
                  <a:srgbClr val="E9EDFF"/>
                </a:solidFill>
                <a:latin typeface="Microsoft Sans Serif"/>
                <a:cs typeface="Microsoft Sans Serif"/>
              </a:rPr>
              <a:t>most.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01076" y="3121850"/>
            <a:ext cx="3432175" cy="597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100"/>
              </a:lnSpc>
              <a:spcBef>
                <a:spcPts val="95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DFS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can</a:t>
            </a:r>
            <a:r>
              <a:rPr dirty="0" sz="1550" spc="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reduce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E9EDFF"/>
                </a:solidFill>
                <a:latin typeface="Microsoft Sans Serif"/>
                <a:cs typeface="Microsoft Sans Serif"/>
              </a:rPr>
              <a:t>exploration</a:t>
            </a:r>
            <a:r>
              <a:rPr dirty="0" sz="1550" spc="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in</a:t>
            </a:r>
            <a:r>
              <a:rPr dirty="0" sz="1550" spc="2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E9EDFF"/>
                </a:solidFill>
                <a:latin typeface="Microsoft Sans Serif"/>
                <a:cs typeface="Microsoft Sans Serif"/>
              </a:rPr>
              <a:t>some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maze</a:t>
            </a:r>
            <a:r>
              <a:rPr dirty="0" sz="1550" spc="114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layouts.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10" name="object 10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76750" y="3876675"/>
            <a:ext cx="409575" cy="409575"/>
          </a:xfrm>
          <a:prstGeom prst="rect">
            <a:avLst/>
          </a:prstGeom>
        </p:spPr>
      </p:pic>
      <p:pic>
        <p:nvPicPr>
          <p:cNvPr id="12" name="object 12" descr="preencoded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5775" y="3876675"/>
            <a:ext cx="409575" cy="4095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471034" y="4357886"/>
            <a:ext cx="3461385" cy="5975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Backtracking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clearly</a:t>
            </a:r>
            <a:r>
              <a:rPr dirty="0" sz="1550" spc="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shows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choose-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550" spc="100">
                <a:solidFill>
                  <a:srgbClr val="E9EDFF"/>
                </a:solidFill>
                <a:latin typeface="Microsoft Sans Serif"/>
                <a:cs typeface="Microsoft Sans Serif"/>
              </a:rPr>
              <a:t>check-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undo</a:t>
            </a:r>
            <a:r>
              <a:rPr dirty="0" sz="1550" spc="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behavior.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1076" y="4357886"/>
            <a:ext cx="3378200" cy="5975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The</a:t>
            </a:r>
            <a:r>
              <a:rPr dirty="0" sz="1550" spc="8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tool</a:t>
            </a:r>
            <a:r>
              <a:rPr dirty="0" sz="1550" spc="1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makes</a:t>
            </a:r>
            <a:r>
              <a:rPr dirty="0" sz="1550" spc="114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abstract</a:t>
            </a:r>
            <a:r>
              <a:rPr dirty="0" sz="155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complexity</a:t>
            </a:r>
            <a:endParaRPr sz="1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550" spc="65">
                <a:solidFill>
                  <a:srgbClr val="E9EDFF"/>
                </a:solidFill>
                <a:latin typeface="Microsoft Sans Serif"/>
                <a:cs typeface="Microsoft Sans Serif"/>
              </a:rPr>
              <a:t>easy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14">
                <a:solidFill>
                  <a:srgbClr val="E9EDFF"/>
                </a:solidFill>
                <a:latin typeface="Microsoft Sans Serif"/>
                <a:cs typeface="Microsoft Sans Serif"/>
              </a:rPr>
              <a:t>to</a:t>
            </a:r>
            <a:r>
              <a:rPr dirty="0" sz="1550" spc="8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observe.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14" name="object 14" descr="preencoded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76750" y="5114925"/>
            <a:ext cx="409575" cy="4000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71034" y="5638482"/>
            <a:ext cx="48393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0">
                <a:solidFill>
                  <a:srgbClr val="E9EDFF"/>
                </a:solidFill>
                <a:latin typeface="Microsoft Sans Serif"/>
                <a:cs typeface="Microsoft Sans Serif"/>
              </a:rPr>
              <a:t>Next</a:t>
            </a:r>
            <a:r>
              <a:rPr dirty="0" sz="1550" spc="12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step:</a:t>
            </a:r>
            <a:r>
              <a:rPr dirty="0" sz="1550" spc="17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demo</a:t>
            </a:r>
            <a:r>
              <a:rPr dirty="0" sz="1550" spc="1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one</a:t>
            </a:r>
            <a:r>
              <a:rPr dirty="0" sz="1550" spc="11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E9EDFF"/>
                </a:solidFill>
                <a:latin typeface="Microsoft Sans Serif"/>
                <a:cs typeface="Microsoft Sans Serif"/>
              </a:rPr>
              <a:t>maze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75">
                <a:solidFill>
                  <a:srgbClr val="E9EDFF"/>
                </a:solidFill>
                <a:latin typeface="Microsoft Sans Serif"/>
                <a:cs typeface="Microsoft Sans Serif"/>
              </a:rPr>
              <a:t>and</a:t>
            </a:r>
            <a:r>
              <a:rPr dirty="0" sz="1550" spc="45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55">
                <a:solidFill>
                  <a:srgbClr val="E9EDFF"/>
                </a:solidFill>
                <a:latin typeface="Microsoft Sans Serif"/>
                <a:cs typeface="Microsoft Sans Serif"/>
              </a:rPr>
              <a:t>discuss</a:t>
            </a:r>
            <a:r>
              <a:rPr dirty="0" sz="1550" spc="50">
                <a:solidFill>
                  <a:srgbClr val="E9EDFF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105">
                <a:solidFill>
                  <a:srgbClr val="E9EDFF"/>
                </a:solidFill>
                <a:latin typeface="Microsoft Sans Serif"/>
                <a:cs typeface="Microsoft Sans Serif"/>
              </a:rPr>
              <a:t>the </a:t>
            </a:r>
            <a:r>
              <a:rPr dirty="0" sz="1550" spc="40">
                <a:solidFill>
                  <a:srgbClr val="E9EDFF"/>
                </a:solidFill>
                <a:latin typeface="Microsoft Sans Serif"/>
                <a:cs typeface="Microsoft Sans Serif"/>
              </a:rPr>
              <a:t>results.</a:t>
            </a:r>
            <a:endParaRPr sz="155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49000" y="6419850"/>
            <a:ext cx="1076325" cy="438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2026-10-03T06:11:31Z</dcterms:created>
  <dcterms:modified xsi:type="dcterms:W3CDTF">2026-10-03T06:11:31Z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2026-10-02T00:00:00Z</vt:filetime>
  </property>
  <property fmtid="{D5CDD505-2E9C-101B-9397-08002B2CF9AE}" pid="4" name="LastSaved">
    <vt:filetime>2026-10-03T00:00:00Z</vt:filetime>
  </property>
</Properties>
</file>